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hyperlink" Target="https://aws.amazon.com/ko" TargetMode="External"/><Relationship Id="rId2" Type="http://schemas.openxmlformats.org/officeDocument/2006/relationships/hyperlink" Target="https://skillbuilder.aws" TargetMode="External"/><Relationship Id="rId3" Type="http://schemas.openxmlformats.org/officeDocument/2006/relationships/hyperlink" Target="https://aws.amazon.com/ko/events/seminars/aws-techcamp" TargetMode="External"/><Relationship Id="rId4" Type="http://schemas.openxmlformats.org/officeDocument/2006/relationships/hyperlink" Target="https://aws.amazon.com/ko/education/awseducat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502920"/>
            <a:ext cx="731520" cy="7315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0" y="5577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62456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완전정복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566160" y="2459736"/>
            <a:ext cx="2011680" cy="36576"/>
          </a:xfrm>
          <a:prstGeom prst="rect">
            <a:avLst/>
          </a:prstGeom>
          <a:solidFill>
            <a:srgbClr val="60A5FA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5511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컴퓨팅의 모든 것을 배워보세요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935224"/>
            <a:ext cx="7955280" cy="2048256"/>
          </a:xfrm>
          <a:prstGeom prst="rect">
            <a:avLst/>
          </a:prstGeom>
          <a:solidFill>
            <a:srgbClr val="000000">
              <a:alpha val="32000"/>
            </a:srgbClr>
          </a:solidFill>
          <a:ln w="9525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740664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Web Services(AWS)는 세계에서 가장 포괄적이고 널리 채택된 클라우드 플랫폼입니다. 200개 이상의 서비스를 통해 컴퓨팅, 스토리지, 데이터베이스, 네트워킹, 분석, 기계 학습, 인공 지능 등 모든 클라우드 요구사항을 충족할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소개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전문가와 함께하는 클라우드 컴퓨팅 여정을 시작해보세요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으뜸정보기술 Solutions Architect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소개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으뜸정보기술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MSP (Managed Service Provider)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 분야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컨설팅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설계 및 운영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성공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최적의 클라우드 솔루션 제공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CSP vs MSP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352544" y="2089404"/>
            <a:ext cx="438912" cy="438912"/>
          </a:xfrm>
          <a:prstGeom prst="ellipse">
            <a:avLst/>
          </a:prstGeom>
          <a:solidFill>
            <a:srgbClr val="1E293B">
              <a:alpha val="80000"/>
            </a:srgbClr>
          </a:solidFill>
          <a:ln w="9525">
            <a:solidFill>
              <a:srgbClr val="64748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52544" y="20894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CSP (Cloud Service Provider)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106424"/>
            <a:ext cx="3429000" cy="0"/>
          </a:xfrm>
          <a:prstGeom prst="line">
            <a:avLst/>
          </a:prstGeom>
          <a:noFill/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04088" y="1188720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인프라 제공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833372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82422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04088" y="1787652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플랫폼 서비스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2316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04088" y="2386584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표준화된 서비스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031236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2209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04088" y="2985516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데이터센터 운영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AWS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78458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5034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Microsoft Azure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53996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0572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Cloud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29534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6110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Naver Cloud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MSP (Managed Service Provider)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12080" y="1106424"/>
            <a:ext cx="3429000" cy="0"/>
          </a:xfrm>
          <a:prstGeom prst="line">
            <a:avLst/>
          </a:prstGeom>
          <a:noFill/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1234440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413248" y="1188720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설계 및 구축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1833372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182422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413248" y="1787652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24/7 모니터링 및 운영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12080" y="2432304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242316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413248" y="2386584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컨설팅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12080" y="3031236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302209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413248" y="2985516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최적화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212080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48656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으뜸정보기술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87618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4194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 CNS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63156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9732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삼성SDS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838694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75270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메가존클라우드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04088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전문성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11480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인증 전문가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87168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78608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871216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578608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리소스 최적화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54296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038344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안정성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 모니터링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821424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12864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205472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집중력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12864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집중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컴퓨팅이란?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인터넷을 통해 컴퓨팅 서비스를 제공하여 빠른 혁신, 유연한 리소스, 규모의 경제를 실현합니다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필요에 따라 리소스를 즉시 확장하거나 축소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효율성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만큼만 지불하는 종량제 요금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어디서나 인터넷을 통해 접근 가능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99.9% 이상의 가용성과 자동 백업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서비스 모델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IaaS, PaaS, SaaS — 세 가지 서비스 모델의 차이를 이해하세요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1097280"/>
            <a:ext cx="475488" cy="475488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752" y="11155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Infrastructure as a Service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2359152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머신, 스토리지, 네트워크 등 기본 인프라를 제공. 최대한의 제어권을 원하는 IT 팀에 적합.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60A5FA">
                <a:alpha val="3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EC2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VPC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EBS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S3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9544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097280"/>
            <a:ext cx="475488" cy="475488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1155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00984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00984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 as a Service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92424" y="2212848"/>
            <a:ext cx="2359152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애플리케이션 개발 및 배포 플랫폼을 제공. 인프라 관리 없이 개발에만 집중할 수 있음.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92424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4ADE80">
                <a:alpha val="3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Elastic Beanstalk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AWS Lambda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AWS Amplify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99048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097280"/>
            <a:ext cx="475488" cy="475488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1155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90488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90488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Software as a Service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81928" y="2212848"/>
            <a:ext cx="2359152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완전한 소프트웨어 솔루션을 서비스로 제공. 설치나 유지보수 없이 바로 사용 가능.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81928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C084FC">
                <a:alpha val="3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WorkSpaces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Chime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Amazon Connect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WorkMail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Amazon의 성장 스토리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1994년 온라인 서점으로 시작하여 세계 최대 클라우드 서비스로 성장한 Amazon의 여정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724912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1994~2000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2560320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Bezos가 시애틀 차고에서 시작한 온라인 서점. 작은 시작, 큰 비전.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9544" y="950976"/>
            <a:ext cx="2724912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5381" y="1719072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2000~2010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75381" y="1892808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185416"/>
            <a:ext cx="2560320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전자상거래 플랫폼으로 성장하며 AWS 기반 기술 개발 시작.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9048" y="950976"/>
            <a:ext cx="2724912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4885" y="1719072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2010~현재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64885" y="1892808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혁신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81344" y="2185416"/>
            <a:ext cx="2560320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1위 클라우드 서비스. AI, ML, IoT 기술 선도.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주요 이정표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1994년부터 현재까지 Amazon이 걸어온 혁신의 역사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724912" cy="198882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027786"/>
            <a:ext cx="822960" cy="246888"/>
          </a:xfrm>
          <a:prstGeom prst="rect">
            <a:avLst/>
          </a:prstGeom>
          <a:solidFill>
            <a:srgbClr val="FB923C">
              <a:alpha val="30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2778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87752" y="101132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36611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창립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" y="1667866"/>
            <a:ext cx="2395728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759306"/>
            <a:ext cx="2395728" cy="1043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Bezos가 시애틀 차고에서 온라인 서점 시작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9544" y="896112"/>
            <a:ext cx="2724912" cy="198882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1027786"/>
            <a:ext cx="822960" cy="246888"/>
          </a:xfrm>
          <a:prstGeom prst="rect">
            <a:avLst/>
          </a:prstGeom>
          <a:solidFill>
            <a:srgbClr val="FB923C">
              <a:alpha val="30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02778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77256" y="101132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74136" y="136611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IPO 상장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74136" y="1667866"/>
            <a:ext cx="2395728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759306"/>
            <a:ext cx="2395728" cy="1043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나스닥에 상장, 주가 18달러로 시작하여 성장 자본 확보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9048" y="896112"/>
            <a:ext cx="2724912" cy="198882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027786"/>
            <a:ext cx="822960" cy="246888"/>
          </a:xfrm>
          <a:prstGeom prst="rect">
            <a:avLst/>
          </a:prstGeom>
          <a:solidFill>
            <a:srgbClr val="FB923C">
              <a:alpha val="30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2778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101132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36611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아이디어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1667866"/>
            <a:ext cx="2395728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759306"/>
            <a:ext cx="2395728" cy="1043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인프라 효율성을 외부 서비스로 제공하기로 결정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994660"/>
            <a:ext cx="2724912" cy="198882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" y="3126334"/>
            <a:ext cx="822960" cy="246888"/>
          </a:xfrm>
          <a:prstGeom prst="rect">
            <a:avLst/>
          </a:prstGeom>
          <a:solidFill>
            <a:srgbClr val="FB923C">
              <a:alpha val="30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12633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87752" y="310987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" y="346466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출시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" y="3766414"/>
            <a:ext cx="2395728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857854"/>
            <a:ext cx="2395728" cy="1043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S3, EC2 서비스로 클라우드 컴퓨팅 시장 개척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9544" y="2994660"/>
            <a:ext cx="2724912" cy="198882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74136" y="3126334"/>
            <a:ext cx="822960" cy="246888"/>
          </a:xfrm>
          <a:prstGeom prst="rect">
            <a:avLst/>
          </a:prstGeom>
          <a:solidFill>
            <a:srgbClr val="FB923C">
              <a:alpha val="30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74136" y="312633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77256" y="310987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74136" y="346466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선도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374136" y="3766414"/>
            <a:ext cx="2395728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3857854"/>
            <a:ext cx="2395728" cy="1043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Netflix, Airbnb 등 주요 기업들이 AWS 채택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99048" y="2994660"/>
            <a:ext cx="2724912" cy="198882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3126334"/>
            <a:ext cx="822960" cy="246888"/>
          </a:xfrm>
          <a:prstGeom prst="rect">
            <a:avLst/>
          </a:prstGeom>
          <a:solidFill>
            <a:srgbClr val="FB923C">
              <a:alpha val="30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12633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66760" y="310987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46466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AI/ML 확장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263640" y="3766414"/>
            <a:ext cx="2395728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857854"/>
            <a:ext cx="2395728" cy="1043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SageMaker, Alexa 등 AI 서비스 본격 출시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1994~1997: 온라인 서점의 탄생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Bezos는 인터넷 사용량이 연간 2300% 증가한다는 통계를 보고 온라인 비즈니스의 가능성을 확신했습니다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창업의 시작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시애틀 차고에서 Amazon.com 창립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시작이지만 큰 꿈을 품고 온라인 서점 사업 시작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처음에는 책만 판매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표준화된 상품으로 시작하여 점차 카테고리 확장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'지구상의 모든 것을 파는 상점' 비전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온라인 서점을 넘어선 거대한 비전 제시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사건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1994년 Amazon.com 법인 설립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 붐을 예측하고 온라인 상거래 시장 선점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1995년 첫 번째 책 판매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Fluid Concepts &amp; Creative Analogies — 역사적인 첫 주문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1996년 연 매출 1580만 달러 달성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폭발적 성장으로 온라인 서점 시장 선도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1997년 나스닥 상장 (주가 $18)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IPO로 성장을 위한 자본 확보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1998~2002: 카테고리 확장과 위기 극복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닷컴 버블 붕괴로 주가가 94% 하락하는 위기를 겪었지만, Customer Obsession으로 극복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위기와 성장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음악, DVD, 전자제품으로 카테고리 확장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서점을 넘어 종합 쇼핑몰로 진화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닷컴 버블 붕괴로 주가 94% 하락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투자자들의 신뢰 상실과 극심한 재정적 어려움 직면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중심 철학과 장기적 비전 유지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 수익보다 장기적 성장에 집중하는 철학 고수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성과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'Customer Obsession' 핵심 가치 확립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만족을 최우선으로 하는 기업 문화 정착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점유율 확대를 위한 공격적 투자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상황에서도 미래를 위한 투자 지속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Marketplace 론칭 (2000)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제3자 판매자 플랫폼으로 수익 다각화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극복 통한 기업 문화 강화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역경을 통해 더욱 강해진 Amazon의 내구성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2003~2006: AWS의 기반 구축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Amazon의 급속한 성장으로 확장 가능한 인프라가 필요해졌고, 이것이 AWS 탄생의 씨앗이 됐습니다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클라우드의 시작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내부적으로 분산 컴퓨팅 인프라 개발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급속한 성장에 대응하기 위한 확장 가능한 시스템 구축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효율성을 외부 서비스로 제공 결정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솔루션의 가치를 인식하고 비즈니스 기회로 전환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2006년 AWS 공식 출시 (S3, EC2)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Simple Storage Service와 Elastic Compute Cloud 서비스 시작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사건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2003년 AWS 구상 시작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인프라를 서비스화하는 아이디어 구체화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2004년 SQS (Simple Queue Service) 출시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AWS의 첫 번째 공개 서비스로 메시지 큐 서비스 제공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컴퓨팅 시장의 개척자 역할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산업 분야를 창조하고 시장 선도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2006년 S3, EC2로 클라우드 혁명 시작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스타트업부터 대기업까지 저렴한 인프라 제공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2007~2015: 클라우드 혁명의 선도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AWS는 클라우드 컴퓨팅 시장을 창조하고 선도하며 클라우드 생태계의 표준을 확립했습니다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지배력 확보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EC2, S3 등 핵심 서비스 지속 확장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점진적인 서비스 포트폴리오 확대와 기능 개선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스타트업부터 대기업까지 폭넓은 채택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규모의 기업들이 AWS를 도입하기 시작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퍼스트 전략의 글로벌 확산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기업들의 IT 전략에 패러다임 변화를 가져옴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혁신 기업 성장 지원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Netflix — 비디오 스트리밍 혁명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기반으로 전 세계 수억 명에게 스트리밍 서비스 제공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Airbnb — 숙박 공유 플랫폼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AWS로 글로벌 확장, 190개국 서비스 운영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Uber — 차량 공유 서비스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AWS의 확장성으로 전 세계 실시간 매칭 서비스 가능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생태계 표준 확립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 개의 파트너사와 함께 강력한 생태계 구축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2016~현재: AI와 ML의 대중화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클라우드 시장 점유율 1위를 유지하며 생성형 AI 시대의 리더십을 확보했습니다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선도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SageMaker, Rekognition 등 AI 서비스 출시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기업들이 쉽게 AI를 도입할 수 있는 서비스 제공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기술의 민주화 선도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전문가가 아니어도 AI를 활용할 수 있는 환경 구축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클라우드 시장 점유율 1위 유지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지속적인 혁신으로 시장 리더십 공고화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Bedrock으로 생성형 AI 시장 선점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Claude, Titan 등 다양한 AI 모델을 하나의 플랫폼에서 제공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성공의 핵심 요소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중심 (Customer Obsession)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경험을 최우선으로 삼아 지속적으로 개선하는 핵심 가치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장기적 비전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 수익보다 장기적 성장에 집중하며 혁신적 기술에 지속 투자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혁신 문화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실패를 두려워하지 않는 문화와 빠른 실험을 통한 학습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 철학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스타트업처럼 민첩하게 움직이는 Day 1 정신 유지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핵심 서비스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200개 이상의 서비스 중 가장 핵심적이고 많이 사용되는 서비스들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Compute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EC2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가능한 가상 서버. 수분 내 인스턴스 시작, 유연한 요금제.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S3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무제한 객체 스토리지. 99.999999999% 내구성 보장.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관리형 관계형 데이터베이스. MySQL, PostgreSQL, Oracle 지원.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IAM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및 액세스 관리. 세밀한 권한 제어, MFA 지원.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서비스 카테고리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목적에 따라 분류된 AWS의 주요 서비스 카테고리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Compute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EC2 · Lambda · ECS · EKS · Batch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· EBS · EFS · Glacier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RDS · DynamoDB · ElastiCache · Neptune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VPC · CloudFront · Route 53 · API Gateway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EC2 (Elastic Compute Cloud)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클라우드에서 안전하고 크기 조정이 가능한 컴퓨팅 용량을 제공하는 가상 서버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분 만에 수천 개의 인스턴스 시작 가능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인스턴스 유형으로 최적화된 성능 제공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VPC와 보안 그룹으로 네트워크 보안 제어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효율성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만큼만 지불하는 유연한 요금제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EC2란?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Elastic Compute Cloud (EC2)는 클라우드에서 안전하고 크기 조정이 가능한 컴퓨팅 용량을 제공하는 웹 서비스입니다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개념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서버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클라우드에서 실행되는 가상 컴퓨터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탄력적 확장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필요에 따라 즉시 용량 조정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만큼 지불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사용 시간에 대해서만 요금 부과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이점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배포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분 만에 서버 시작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효율성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투자 없이 시작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가용성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99.95% SLA 보장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탄력적 컴퓨팅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분 만에 수천 개의 인스턴스 시작 가능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완전한 제어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루트 액세스 권한으로 인스턴스 완전 제어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입증된 Amazon 네트워크 인프라 활용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통합성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AWS 서비스와 완벽한 통합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EC2 인스턴스 패밀리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워크로드에 최적화된 다양한 인스턴스 패밀리를 알아보세요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인스턴스 유형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(M7i, M6i, T3, T4g)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균형잡힌 컴퓨팅·메모리·네트워킹 — 웹 서버, 중소규모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컴퓨팅 최적화 (C7g, C6i, C5)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프로세서 최적화 — HPC, 배치처리, 게임서버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최적화 (R7g, R6i, X2iezn)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집약적 워크로드 — 인메모리 DB, 빅데이터, 캐시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스토리지 최적화 (I4i, D3, H1)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순차 읽기/쓰기 성능 — 분산파일시스템, DW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가이드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애플리케이션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인스턴스 (M5, T3) — 안정적이고 균형잡힌 성능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컴퓨팅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컴퓨팅 최적화 (C5) — 강력한 CPU 성능이 필요한 경우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대용량 데이터 처리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최적화 (R5) — 대규모 인메모리 데이터 처리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분석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스토리지 최적화 (I3) — 고속 로컬 스토리지 필요 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EC2 요금 모델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워크로드에 맞는 최적의 요금 모델을 선택하여 비용을 최적화하세요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요금 유형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온디맨드 — 기준가격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시간당 요금, 약정 없음. 즉시 사용 가능, 예측 불가능한 워크로드에 적합.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인스턴스 — 최대 72% 할인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1~3년 약정으로 대폭 할인. 프로덕션 환경, 일정한 사용량에 최적.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스팟 인스턴스 — 최대 90% 할인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여유 용량을 경매로 제공. 배치 처리, 내결함성 워크로드에 적합.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Savings Plans — 최대 72% 할인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유연한 사용량 약정. 다양한 인스턴스·서비스에 자동 적용.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최적화 전략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모니터링으로 적정 사이즈 선택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CloudWatch로 사용량 추적하고 적절한 인스턴스 크기 선택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전략 활용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워크로드는 예약 인스턴스나 Savings Plans 활용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혼합 사용으로 최적화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온디맨드 + 스팟 + 예약 인스턴스를 조합하여 최적화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 Scaling 적용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트래픽에 따라 자동으로 용량을 조절하여 비용 낭비 방지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(Simple Storage Service)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최고의 확장성, 데이터 가용성, 보안 및 성능을 제공하는 객체 스토리지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무제한 저장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99.999999999%의 내구성으로 안전한 데이터 보관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암호화, 액세스 제어, 감사 기능 제공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어디서나 빠른 액세스 가능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스토리지 클래스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용도에 맞는 최적화된 스토리지 옵션 제공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스토리지 클래스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액세스 패턴에 따른 최적화된 스토리지 옵션을 선택하세요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스토리지 클래스 종류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Standard — 자주 액세스하는 데이터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액세스, 99.9% 가용성, 높은 내구성. 웹사이트, 앱.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Infrequent Access — 가끔 액세스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저렴한 비용, 빠른 액세스, 백업 용도에 적합.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Glacier — 장기 아카이브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매우 저렴, 분~시간 복원, 규정 준수 아카이브.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Archive — 최장기 보관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최저 비용, 12시간 복원. 테이프 대체 솔루션.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가이드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 / 앱 → Standard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액세스가 필요한 자주 사용하는 데이터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/ 재해 복구 → 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1~2회 액세스하는 백업 및 재해 복구 데이터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 준수 아카이브 → Glacier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1~2회 액세스하는 장기 보존 데이터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데이터 보관 → Deep Archive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7~10년 이상 보관하는 최장기 아카이브 데이터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데이터베이스 서비스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워크로드에 최적화된 완전 관리형 데이터베이스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관계형 데이터베이스. MySQL, PostgreSQL, Oracle, SQL Server 지원.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DynamoDB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관리형 키-값 NoSQL DB. 밀리초 이하 응답시간.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In-Memory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ElastiCache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인메모리 캐시 서비스. Redis와 Memcached 지원.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Neptune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데이터베이스. 소셜 네트워킹, 추천 엔진 최적화.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 선택 가이드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워크로드 특성에 맞는 최적의 데이터베이스를 선택하세요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 유형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관계형 DB (RDS)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ACID 트랜잭션, SQL, 정형 데이터. MySQL·PostgreSQL·Oracle·SQL Server.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NoSQL (DynamoDB)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확장성, 유연한 스키마, 빠른 성능. Key-Value, Document, Wide Column.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인메모리 (ElastiCache)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초고속 액세스, 캐싱, 세션 스토어. Redis, Memcached 엔진 지원.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(Neptune)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관계 데이터. 소셜 네트워크, 추천 시스템, 지식 그래프.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용도별 선택 기준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전자상거래 / ERP / CRM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트랜잭션과 JOIN이 필요 → RDS 선택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앱 / 게임 / IoT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확장성과 빠른 성능이 중요 → DynamoDB 선택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캐시 / 세션 관리 / 리더보드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초고속 읽기가 필요 → ElastiCache 선택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 / 추천 / 지식 그래프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관계 탐색이 필요 → Neptune 선택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네트워킹 서비스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안전하고 확장 가능한 네트워크 인프라를 구축할 수 있는 서비스들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Cloud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VPC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프라이빗 클라우드. 격리된 네트워크 환경을 자유롭게 구성.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CloudFront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전송 네트워크. 전 세계 216개 엣지에서 빠른 콘텐츠 배포.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Route 53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가능한 DNS 웹 서비스. 99.99% 가용성 SLA 보장.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API Gateway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관리 서비스. REST 및 WebSocket API 생성·배포·관리.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네트워킹 아키텍처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안전하고 고가용성 네트워크를 구성하는 핵심 아키텍처 패턴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구성 요소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VPC 아키텍처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Public/Private Subnet, Internet Gateway, NAT Gateway로 격리된 안전한 네트워크 환경 구성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CDN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216개 엣지 로케이션, Regional Caches, Origin Servers로 전 세계 빠른 콘텐츠 배포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DNS &amp; 라우팅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Health Checks, Failover, Geolocation, Weighted Routing으로 99.99% 가용성 보장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관리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REST·WebSocket API, 인증, Rate Limiting 통합 관리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5803D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모범 사례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5803D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보안: Security Groups + NACLs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인바운드/아웃바운드 트래픽을 세밀하게 제어하여 다중 보안 계층 구성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성능: CloudFront + Route 53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CDN과 지능형 DNS 라우팅으로 전 세계 사용자에게 최적의 성능 제공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확장성: Auto Scaling + Load Balancer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트래픽에 따라 자동으로 용량을 조절하고 부하를 균등 분산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모니터링: CloudWatch + VPC Flow Logs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네트워크 트래픽 모니터링과 이상 탐지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보안 원칙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AWS는 보안을 최우선으로 고려하여 다양한 보안 서비스와 모범 사례를 제공합니다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Defense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심층 방어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보안 계층으로 포괄적 보호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Least Privilege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권한 원칙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최소한의 권한만 부여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모니터링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지속적인 보안 상태 모니터링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 준수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보안 표준 및 인증 준수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보안 완전 가이드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책임 모델을 기반으로 AWS와 고객이 함께 만드는 안전한 클라우드 환경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책임 모델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책임: 클라우드 인프라 보안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보안, 하드웨어 관리, 네트워크 제어, 인프라 보안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책임: 클라우드 내 보안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운영체제 패치, 애플리케이션 보안, 데이터 암호화, 네트워크 구성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IAM &amp; 접근 제어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관리, 그룹 정책, 역할 기반 접근, MFA 지원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보호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전송 중·저장 시 암호화, KMS 키 관리, CloudHSM 하드웨어 보안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B91C1C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 &amp; 규정 준수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B91C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CloudTrail — API 추적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AWS API 호출을 기록하여 감사 및 규정 준수 지원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GuardDuty — 위협 탐지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머신러닝으로 이상 행동을 자동 탐지하는 지능형 위협 감지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Hub — 보안 통합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보안 서비스의 결과를 하나의 대시보드에서 관리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 준수: SOC, PCI DSS, ISO 27001, HIPAA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표준 인증으로 법적·규제적 요구사항 충족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AI/ML 서비스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인공지능과 머신러닝을 누구나 쉽게 활용할 수 있는 다양한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Platform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SageMaker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구축, 훈련, 배포의 전체 ML 워크플로우를 하나의 플랫폼에서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Rekognition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및 비디오 분석. 얼굴 인식, 객체 탐지, 텍스트 추출.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Comprehend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처리. 감정 분석, 키워드 추출, 언어 감지.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CodeWhisperer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코드 어시스턴트. 실시간 코드 제안 및 보안 스캔.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AI/ML 서비스 카테고리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목적에 맞는 AWS AI/ML 서비스를 선택하여 비즈니스 혁신을 가속화하세요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카테고리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 플랫폼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SageMaker, Bedrock, Textract — 완전 관리형 ML 환경. 예측 모델링, 이상 탐지.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 비전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Rekognition, Lookout for Vision — 이미지·비디오 분석. 얼굴 인식, 품질 검사.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처리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Comprehend, Translate, Polly — 텍스트·음성 처리. 감정 분석, 번역, 음성 변환.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Bedrock, Q, CodeWhisperer — 대화형 AI 및 콘텐츠 생성. 코드 생성, 문서 작성.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7E22CE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트렌드 &amp; 전망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7E22CE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AutoML — 자동화된 모델 개발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과학 지식 없이도 자동으로 최적의 ML 모델을 생성하고 배포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멀티모달 AI — 이미지+텍스트 통합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이미지, 텍스트, 음성을 동시에 이해하는 차세대 AI 모델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AI — 엣지 컴퓨팅 AI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연결 없이 디바이스에서 직접 AI 추론을 실행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 — 창작 및 코딩 지원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텍스트, 코드, 이미지를 생성하는 AI로 생산성 혁신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ACC15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Lambda (서버리스 컴퓨팅)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관리 없이 코드를 실행할 수 있는 서버리스 컴퓨팅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FACC15">
              <a:alpha val="25000"/>
            </a:srgbClr>
          </a:solidFill>
          <a:ln w="9525">
            <a:solidFill>
              <a:srgbClr val="FACC1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관리 없이 코드만 업로드하면 실행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FACC15">
              <a:alpha val="25000"/>
            </a:srgbClr>
          </a:solidFill>
          <a:ln w="9525">
            <a:solidFill>
              <a:srgbClr val="FACC15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효율적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시간에 대해서만 요금 지불. 100ms 단위 과금.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FACC15">
              <a:alpha val="25000"/>
            </a:srgbClr>
          </a:solidFill>
          <a:ln w="9525">
            <a:solidFill>
              <a:srgbClr val="FACC15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언어 지원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Python, Node.js, Java, Go, C# 등 지원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FACC15">
              <a:alpha val="25000"/>
            </a:srgbClr>
          </a:solidFill>
          <a:ln w="9525">
            <a:solidFill>
              <a:srgbClr val="FACC15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확장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트래픽에 따라 자동으로 확장. 동시 실행 1,000개 기본 지원.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ACC15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Lambda 활용 사례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기반 서버리스 아키텍처로 다양한 워크로드를 처리하세요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활용 사례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ACC15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애플리케이션 백엔드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Gateway + Lambda로 서버리스 REST API. 무제한 확장, 비용 최적화.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처리 파이프라인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이벤트, DynamoDB 스트림, Kinesis 처리로 자동화된 ETL.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처리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리사이징, 썸네일 생성, 포맷 변환을 자동 트리거로 처리.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백엔드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푸시 알림, 사용자 인증, 파일 업로드를 서버리스로 처리.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A16207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Lambda 핵심 특징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A1620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15분 실행 시간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작업부터 중간 길이 작업까지 처리 가능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100ms 단위 정밀 과금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정확한 시간에 대해서만 비용 지불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확장 — 동시 실행 최대 1,000개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트래픽 폭증 시 자동으로 확장하여 무중단 서비스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ACC15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200+ AWS 서비스 이벤트 연동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S3, DynamoDB, Kinesis, SQS 등 다양한 이벤트 소스 지원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ECS/EKS (컨테이너 서비스)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컨테이너화된 애플리케이션을 쉽게 배포, 관리, 확장할 수 있는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Container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네이티브 완전 관리형 컨테이너 오케스트레이션.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관리형 Kubernetes. 오픈소스 생태계와 멀티클라우드 활용.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Fargate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컨테이너. 인프라 관리 없이 컨테이너를 실행.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Registry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ECR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이미지를 안전하게 저장하고 배포하는 레지스트리.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서비스 가이드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352544" y="2089404"/>
            <a:ext cx="438912" cy="438912"/>
          </a:xfrm>
          <a:prstGeom prst="ellipse">
            <a:avLst/>
          </a:prstGeom>
          <a:solidFill>
            <a:srgbClr val="1E293B">
              <a:alpha val="80000"/>
            </a:srgbClr>
          </a:solidFill>
          <a:ln w="9525">
            <a:solidFill>
              <a:srgbClr val="64748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52544" y="20894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ECS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106424"/>
            <a:ext cx="3429000" cy="0"/>
          </a:xfrm>
          <a:prstGeom prst="line">
            <a:avLst/>
          </a:prstGeom>
          <a:noFill/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04088" y="1188720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네이티브 통합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833372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82422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04088" y="1787652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간단한 설정과 빠른 시작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2316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04088" y="2386584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서비스와 완벽한 통합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031236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2209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04088" y="2985516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복잡도 낮음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친화적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78458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5034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간편한 설정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53996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0572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시작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29534" y="3648456"/>
            <a:ext cx="802386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6110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저렴한 비용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EKS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12080" y="1106424"/>
            <a:ext cx="3429000" cy="0"/>
          </a:xfrm>
          <a:prstGeom prst="line">
            <a:avLst/>
          </a:prstGeom>
          <a:noFill/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1234440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413248" y="1188720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 표준 준수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1833372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182422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413248" y="1787652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생태계 활용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12080" y="2432304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242316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413248" y="2386584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 클라우드 포터빌리티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12080" y="3031236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302209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413248" y="2985516"/>
            <a:ext cx="3355848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커뮤니티 생태계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212080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48656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K8s 표준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87618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4194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63156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9732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포터블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838694" y="3648456"/>
            <a:ext cx="802386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75270" y="3666744"/>
            <a:ext cx="7292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생태계 풍부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04088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Fargate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11480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컨테이너 실행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87168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78608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871216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ECR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578608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이미지 저장소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54296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038344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Blue/Green 배포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무중단 배포 전략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821424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12864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205472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Container Insights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12864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모니터링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아키텍처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관리 없이 애플리케이션을 구축하고 실행할 수 있는 완전 관리형 서비스들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Compute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Lambda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기반 코드 실행. 서버 없이 함수 단위로 실행.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DynamoDB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관리형 서버리스 NoSQL DB. 자동 확장, 밀리초 응답.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RESTful API 생성 및 관리. Lambda와 통합하여 서버리스 백엔드 구성.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Functions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워크플로우 오케스트레이션. 마이크로서비스 조정.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아키텍처 패턴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서비스에 적용할 수 있는 대표적인 서버리스 아키텍처 패턴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아키텍처 패턴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애플리케이션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CloudFront → API Gateway → Lambda → DynamoDB. 무제한 확장, 글로벌 배포.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처리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업로드 이벤트 → Lambda → DynamoDB → SNS 알림. 자동화된 ETL.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처리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→ Lambda → Rekognition → CloudFront. AI 분석과 CDN 배포 자동화.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알림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Gateway → Lambda → SNS → SQS. 이벤트 기반 멀티채널 알림.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모범 사례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콜드 스타트 최소화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Provisioned Concurrency 활용, 함수 크기 최소화, 런타임 최적화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X-Ray로 추적 및 모니터링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 트레이싱으로 서비스 간 병목 지점 파악 및 성능 최적화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처리: DLQ 활용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Dead Letter Queue로 실패한 이벤트를 보존하고 재처리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IAM 최소 권한 원칙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Lambda 함수에 필요한 최소한의 IAM 권한만 부여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DevOps 도구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개발과 운영을 통합하여 애플리케이션 배포를 자동화하고 모니터링할 수 있는 도구들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Control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CodeCommit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관리형 Git 저장소. 안전하고 확장 가능한 소스 제어.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CodePipeline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자동화된 릴리스 파이프라인. 코드 변경 시 자동으로 배포.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CloudWatch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로그, 메트릭, 알람 관리. 인프라와 애플리케이션 모니터링.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CloudFormation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as 코드. 템플릿 기반으로 AWS 리소스 자동 프로비저닝.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DevOps 모범 사례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코드부터 프로덕션 배포까지 완전히 자동화된 DevOps 파이프라인 구축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DevOps 영역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 파이프라인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CodeCommit → CodeBuild → CodeDeploy → CodePipeline으로 완전 자동화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Infrastructure as 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CloudFormation, CDK, Terraform으로 인프라를 코드로 버전 관리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 &amp; 로깅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CloudWatch, X-Ray, CloudTrail, Config로 실시간 시스템 상태 파악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&amp; 컴플라이언스 (DevSecOps)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IAM, Secrets Manager, Inspector로 보안을 파이프라인에 통합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DevOps 성숙도 단계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수동 배포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개발자가 직접 서버에 접속하여 수동으로 코드 배포 — 느리고 오류 위험 높음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자동 빌드 (CI)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푸시 시 자동으로 빌드와 테스트 실행 — 품질 향상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3단계: CI/CD 완성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빌드에서 자동 배포까지 파이프라인 완성 — 배포 주기 단축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4단계: 완전 자동화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치유, 자동 확장, 예측적 운영으로 완전 자동화된 시스템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및 빅데이터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대용량 데이터를 수집, 저장, 처리, 분석할 수 있는 완전 관리형 서비스들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Warehouse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Redshift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페타바이트 규모 데이터 웨어하우스. 기존 대비 10배 빠른 쿼리 성능.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Serverless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Athena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쿼리 서비스. S3 데이터를 SQL로 직접 분석.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🌊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Kinesis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데이터 스트리밍. 초당 수백만 개의 이벤트 수집 및 처리.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OpenSearch Service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및 로그 분석. Elasticsearch 호환 완전 관리형 서비스.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아키텍처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목적에 맞는 데이터 분석 파이프라인 아키텍처를 선택하세요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아키텍처 패턴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레이크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→ Glue ETL → Athena 쿼리 → QuickSight 시각화. 모든 형태의 데이터 통합 분석.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분석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Kinesis → Lambda → DynamoDB → CloudWatch. 스트리밍 데이터 실시간 처리.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웨어하우스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→ Glue → Redshift → QuickSight. 구조화된 데이터의 대규모 집계 분석.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&amp; 로그 분석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CloudWatch → Lambda → OpenSearch → Kibana. 로그 중앙화와 전문 검색.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7E22CE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트렌드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7E22CE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분석 — 스트리밍 데이터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배치 처리에서 실시간 스트리밍 분석으로 전환하여 즉각적인 인사이트 확보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ML — AutoML 파이프라인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SageMaker Autopilot으로 데이터 준비부터 모델 배포까지 자동화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— 관리 부담 최소화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Athena, Glue, Lambda로 인프라 관리 없이 데이터 파이프라인 구축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인터랙티브 시각화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QuickSight로 실시간 대시보드를 구축하고 비즈니스 의사결정 지원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IoT (사물인터넷)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수십억 개의 IoT 디바이스를 안전하게 연결하고 관리할 수 있는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Connectivity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IoT 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디바이스 연결 관리. MQTT, HTTPS 프로토콜로 수십억 디바이스 연결.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Device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IoT 디바이스 등록, 구성, 원격 관리 서비스.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IoT Analytics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데이터 전처리, 저장, 분석 파이프라인. 센서 데이터 처리.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IoT Events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이벤트 감지 및 자동 응답. 장비 이상 시 알람 발송.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솔루션 가이드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산업 분야에서 AWS IoT 서비스를 활용한 스마트 솔루션 구축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산업별 IoT 솔루션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팩토리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센서·컨베이어·로봇팔 데이터로 예측 유지보수, 품질 관리, 생산 최적화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시티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센서·환경 모니터·CCTV로 교통 최적화, 환경 측정, 안전 관리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농업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 센서·온습도계·드론으로 작물 모니터링, 관개 자동화, 수확량 예측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커넥티드 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GPS·가속도계·카메라·레이더로 운전 패턴, 연료 효율, 예측 정비 분석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5803D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아키텍처 계층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5803D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디바이스 계층: 센서 &amp; 액추에이터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세계와 디지털 세계를 연결하는 하드웨어 계층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계층: MQTT, HTTPS 통신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Core를 통해 안전하고 신뢰성 있는 디바이스 통신 처리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계층: 실시간 데이터 분석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Kinesis, Lambda, IoT Analytics로 수집된 데이터를 즉시 처리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 계층: 비즈니스 로직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결과를 바탕으로 자동화된 알람, 보고서, 대시보드 제공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72B6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모바일 개발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애플리케이션 개발과 배포를 위한 완전 관리형 서비스들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472B6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F472B6">
              <a:alpha val="25000"/>
            </a:srgbClr>
          </a:solidFill>
          <a:ln w="9525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Full-Stack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Amplify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풀스택 앱 개발 플랫폼. React Native, Flutter 지원. 빠른 MVP 개발.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472B6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F472B6">
              <a:alpha val="25000"/>
            </a:srgbClr>
          </a:solidFill>
          <a:ln w="9525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AppSync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GraphQL API 서비스. 실시간 데이터 동기화, 오프라인 지원.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472B6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F472B6">
              <a:alpha val="25000"/>
            </a:srgbClr>
          </a:solidFill>
          <a:ln w="9525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Pinpoint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참여 분석. 푸시 알림, 이메일, SMS 캠페인 관리.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472B6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F472B6">
              <a:alpha val="25000"/>
            </a:srgbClr>
          </a:solidFill>
          <a:ln w="9525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Cognito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인증 서비스. 소셜 로그인, MFA, JWT 토큰 관리.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72B6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앱 개발 가이드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서비스로 빠르고 안정적인 모바일 애플리케이션을 구축하세요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472B6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핵심 요소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472B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크로스 플랫폼 개발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Native, Flutter로 단일 코드베이스에서 iOS와 Android 동시 개발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백엔드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AppSync + Lambda + DynamoDB로 인프라 관리 없는 확장 가능한 백엔드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참여 도구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Pinpoint로 푸시 알림, 이메일 캠페인, 사용자 행동 분석, A/B 테스트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&amp; 인증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Cognito로 소셜 로그인, MFA, JWT 토큰 관리, 안전한 API 접근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9D174D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트렌드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9D174D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PWA — 프로그레시브 웹앱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웹과 앱의 경계를 허무는 PWA로 설치 없이 네이티브급 경험 제공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5G — 초고속 통신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5G 네트워크와 엣지 컴퓨팅으로 초저지연 모바일 서비스 가능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AR/VR — 몰입형 경험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증강현실과 가상현실로 완전히 새로운 사용자 경험 창출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F472B6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온디바이스 AI — 지능형 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SageMaker Edge로 클라우드 없이 디바이스에서 AI 추론 실행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게임 개발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모바일부터 AAA급 게임까지, 모든 규모의 게임 개발을 지원하는 서비스들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5276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Multiplayer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GameLift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멀티플레이어 게임 호스팅. 자동 확장 게임 서버, 매치메이킹.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2404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240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3005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3005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GameSparks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9464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백엔드 서비스. 리더보드, 인벤토리, 게임 이벤트 관리.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9532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953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0133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0133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Amazon IVS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라이브 스트리밍. 게임 방송과 시청자 상호작용 지원.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950976"/>
            <a:ext cx="2002536" cy="4032504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1115568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6660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7261" y="1719072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87261" y="1892808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분석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85416"/>
            <a:ext cx="1837944" cy="2732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Kinesis + Redshift + QuickSight로 플레이어 행동 및 수익 분석.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개발 아키텍처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장르와 규모에 맞는 최적의 게임 서버 아키텍처를 선택하세요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아키텍처 패턴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멀티플레이어 (MMORPG)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GameLift + DynamoDB + ElastiCache + CloudFront로 실시간 매칭, 저지연 통신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소셜 게임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Lambda + API Gateway + DynamoDB + Cognito로 친구 시스템, 리더보드, 소셜 로그인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데이터 분석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Kinesis → Redshift → QuickSight로 플레이어 분석, 수익 분석, A/B 테스트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보안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 + Shield + GuardDuty로 DDoS 방어, 치팅 방지, 데이터 보호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7E22CE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산업 트렌드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7E22CE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게임 스트리밍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디바이스 성능 관계없이 클라우드에서 렌더링하여 모든 기기에서 AAA급 경험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메타버스 &amp; 가상 세계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지속적인 가상 세계를 위한 확장 가능한 클라우드 인프라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NFT &amp; 블록체인 게임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아이템의 진정한 소유권과 거래를 위한 블록체인 통합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NPC — 지능형 캐릭터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AI로 플레이어와 자연스럽게 대화하는 지능형 NPC 구현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관련 직업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기술의 확산으로 새롭게 주목받는 고연봉 직업들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2724912" cy="196138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7" y="1719072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877" y="1892808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아키텍트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2185416"/>
            <a:ext cx="2560320" cy="66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인프라 설계 및 구축. 연봉 상위 5% 직군.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9544" y="950976"/>
            <a:ext cx="2724912" cy="196138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5381" y="1719072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DevOps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75381" y="1892808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DevOps 엔지니어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185416"/>
            <a:ext cx="2560320" cy="66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개발과 운영의 자동화 및 통합. CI/CD 파이프라인 구축.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9048" y="950976"/>
            <a:ext cx="2724912" cy="196138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1115568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1338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4885" y="1719072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64885" y="1892808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SRE (사이트 신뢰성)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81344" y="2185416"/>
            <a:ext cx="2560320" cy="66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안정성 및 확장성 관리. 99.99% 가용성 목표.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022092"/>
            <a:ext cx="2724912" cy="196138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26464" y="3186684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26464" y="3204972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5877" y="3790188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7" y="3963924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보안 전문가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2336" y="4256532"/>
            <a:ext cx="2560320" cy="66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환경의 보안 설계 및 관리. 수요 급증 직군.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9544" y="3022092"/>
            <a:ext cx="2724912" cy="196138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3186684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3204972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275381" y="3790188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75381" y="3963924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엔지니어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91840" y="4256532"/>
            <a:ext cx="2560320" cy="66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파이프라인 구축 및 관리. 데이터 기반 의사결정 지원.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9048" y="3022092"/>
            <a:ext cx="2724912" cy="196138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05472" y="3186684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05472" y="3204972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164885" y="3790188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64885" y="3963924"/>
            <a:ext cx="25932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엔지니어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81344" y="4256532"/>
            <a:ext cx="2560320" cy="66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 모델 개발 및 운영. AI 시대 최고 주목 직군.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커리어 로드맵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학습과 자격증 취득으로 AWS 전문가 커리어를 시작하세요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&amp; 자격증 경로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기초 학습 (Cloud Practitioner)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기본 개념 이해. 클라우드 컴퓨팅, 핵심 서비스, 보안 기초.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Associate 자격증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Solutions Architect / Developer / SysOps 중 선택. 실무 역량 검증.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3단계: Professional 자격증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Solutions Architect Professional — 고급 설계 역량. 최고 수준 인증.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4단계: Specialty 자격증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Security, ML, Data Analytics 등 전문 분야 심화 인증.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5803D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취업 전략 &amp; 시장 전망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5803D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경험: 개인 프로젝트 &amp; 오픈소스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서버리스 앱, GitHub 프로젝트, 오픈소스 기여로 포트폴리오 구축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수요 &amp; 경쟁력 있는 연봉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자격증 보유자는 지속적으로 높은 연봉과 취업 기회 보장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근무 &amp; 글로벌 기회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기술로 전 세계 어디서나 일할 수 있는 원격 근무 가능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지속적인 성장 &amp; 학습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re:Invent, AWS Skill Builder, 커뮤니티 활동으로 지속 성장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502920"/>
            <a:ext cx="731520" cy="7315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0" y="5577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62456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FUTURE OF CLOUD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클라우드의 미래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566160" y="2459736"/>
            <a:ext cx="2011680" cy="36576"/>
          </a:xfrm>
          <a:prstGeom prst="rect">
            <a:avLst/>
          </a:prstGeom>
          <a:solidFill>
            <a:srgbClr val="60A5FA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5511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AWS가 이끌어갈 클라우드 컴퓨팅의 미래를 함께 살펴봅니다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935224"/>
            <a:ext cx="7955280" cy="2048256"/>
          </a:xfrm>
          <a:prstGeom prst="rect">
            <a:avLst/>
          </a:prstGeom>
          <a:solidFill>
            <a:srgbClr val="000000">
              <a:alpha val="32000"/>
            </a:srgbClr>
          </a:solidFill>
          <a:ln w="9525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740664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AI-First 클라우드, 완전 자동화 운영, 지속가능한 그린 컴퓨팅, 양자 보안 — 2030년을 향해 클라우드 기술은 우리의 상상을 뛰어넘는 속도로 진화하고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기술 전망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2030년을 향해 진화하는 클라우드 기술의 4가지 핵심 방향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혁신 방향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AI-First 클라우드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Bedrock 확장, AutoML 대중화로 모든 서비스에 AI가 기본 탑재되는 시대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7972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자동화 (Zero-Ops)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 복구, 예측적 확장, 자동 최적화로 인프라 운영 부담이 사라지는 환경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24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지속가능한 클라우드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재생에너지, 탄소 중립 데이터센터. ESG 목표 달성의 핵심 파트너.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8508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06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 보안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 암호화와 Amazon Braket으로 절대적 보안 수준의 차세대 암호화 실현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2030년 전망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코딩을 대체하는 시대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1728216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자연어로 요구사항을 설명하면 AI가 자동으로 코드와 인프라를 생성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972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7058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236143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 컴퓨팅 상용화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2580894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슈퍼컴퓨터가 수천 년 걸릴 문제를 몇 분 만에 해결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24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32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4064" y="32141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클라우드가 사회 문제 해결의 핵심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3433572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격차, 의료 불평등, 기후변화 해결의 중심 플랫폼이 될 클라우드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8508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759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4064" y="406679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6G &amp; 엣지 컴퓨팅 융합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4286250"/>
            <a:ext cx="3685032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초저지연 6G와 엣지 AI가 결합하여 현재 불가능한 실시간 서비스 실현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시작하기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AWS 여정을 시작할 수 있는 4가지 필수 사이트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1060704"/>
            <a:ext cx="530352" cy="530352"/>
          </a:xfrm>
          <a:prstGeom prst="ellipse">
            <a:avLst/>
          </a:prstGeom>
          <a:solidFill>
            <a:srgbClr val="FB923C">
              <a:alpha val="28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" y="1078992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5877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홈페이지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AWS의 모든 서비스와 정보의 시작점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2441448"/>
            <a:ext cx="1673352" cy="274320"/>
          </a:xfrm>
          <a:prstGeom prst="rect">
            <a:avLst/>
          </a:prstGeom>
          <a:solidFill>
            <a:srgbClr val="FB923C">
              <a:alpha val="22000"/>
            </a:srgbClr>
          </a:solidFill>
          <a:ln w="6350">
            <a:solidFill>
              <a:srgbClr val="FB923C">
                <a:alpha val="4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기본이 되는 사이트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" y="2852928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200+ 서비스 소개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" y="3054096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정보 확인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" y="3255264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사례 탐색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3456432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계정 생성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22" name="Text 20">
            <a:hlinkClick r:id="rId1" tooltip=""/>
          </p:cNvPr>
          <p:cNvSpPr/>
          <p:nvPr/>
        </p:nvSpPr>
        <p:spPr>
          <a:xfrm>
            <a:off x="539496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FB92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aws.amazon.com/ko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87168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3260" y="1060704"/>
            <a:ext cx="530352" cy="530352"/>
          </a:xfrm>
          <a:prstGeom prst="ellipse">
            <a:avLst/>
          </a:prstGeom>
          <a:solidFill>
            <a:srgbClr val="60A5FA">
              <a:alpha val="28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23260" y="1078992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553005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Skill Builder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9464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600개 이상의 무료 온라인 강의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2441448"/>
            <a:ext cx="1673352" cy="274320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학습의 시작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2852928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788920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디지털 강의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3054096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788920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환경 제공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3255264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788920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자격증 시험 준비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51760" y="3456432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788920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강의 지원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51760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60A5FA">
                <a:alpha val="52000"/>
              </a:srgbClr>
            </a:solidFill>
            <a:prstDash val="solid"/>
          </a:ln>
        </p:spPr>
      </p:sp>
      <p:sp>
        <p:nvSpPr>
          <p:cNvPr id="39" name="Text 37">
            <a:hlinkClick r:id="rId2" tooltip=""/>
          </p:cNvPr>
          <p:cNvSpPr/>
          <p:nvPr/>
        </p:nvSpPr>
        <p:spPr>
          <a:xfrm>
            <a:off x="2706624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skillbuilder.aws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54296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90388" y="1060704"/>
            <a:ext cx="530352" cy="530352"/>
          </a:xfrm>
          <a:prstGeom prst="ellipse">
            <a:avLst/>
          </a:prstGeom>
          <a:solidFill>
            <a:srgbClr val="4ADE80">
              <a:alpha val="28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0388" y="1078992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🏕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720133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Tech Camp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36592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고등학생을 위한 AWS 특별 교육 프로그램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18888" y="2441448"/>
            <a:ext cx="1673352" cy="274320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프로그램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18888" y="2852928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956048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온·오프라인 진행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18888" y="3054096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956048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참가 가능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18888" y="3255264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956048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중심 커리큘럼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18888" y="3456432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956048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진로 멘토링 포함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18888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4ADE80">
                <a:alpha val="52000"/>
              </a:srgbClr>
            </a:solidFill>
            <a:prstDash val="solid"/>
          </a:ln>
        </p:spPr>
      </p:sp>
      <p:sp>
        <p:nvSpPr>
          <p:cNvPr id="56" name="Text 54">
            <a:hlinkClick r:id="rId3" tooltip=""/>
          </p:cNvPr>
          <p:cNvSpPr/>
          <p:nvPr/>
        </p:nvSpPr>
        <p:spPr>
          <a:xfrm>
            <a:off x="4873752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aws.amazon.com/ko/events/seminars/aws-techcamp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21424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57516" y="1060704"/>
            <a:ext cx="530352" cy="530352"/>
          </a:xfrm>
          <a:prstGeom prst="ellipse">
            <a:avLst/>
          </a:prstGeom>
          <a:solidFill>
            <a:srgbClr val="C084FC">
              <a:alpha val="28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57516" y="1078992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887261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AWS Educate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903720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전용 무료 클라우드 크레딧 프로그램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86016" y="2441448"/>
            <a:ext cx="1673352" cy="274320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9168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AWS 서비스 체험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86016" y="2852928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123176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$100 크레딧 제공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86016" y="3054096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123176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신용카드 불필요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86016" y="3255264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123176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인증만으로 가입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86016" y="3456432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7123176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환경 즉시 사용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986016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C084FC">
                <a:alpha val="52000"/>
              </a:srgbClr>
            </a:solidFill>
            <a:prstDash val="solid"/>
          </a:ln>
        </p:spPr>
      </p:sp>
      <p:sp>
        <p:nvSpPr>
          <p:cNvPr id="73" name="Text 71">
            <a:hlinkClick r:id="rId4" tooltip=""/>
          </p:cNvPr>
          <p:cNvSpPr/>
          <p:nvPr/>
        </p:nvSpPr>
        <p:spPr>
          <a:xfrm>
            <a:off x="7040880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aws.amazon.com/ko/education/awseducate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2026-03-28T05:50:20Z</dcterms:created>
  <dcterms:modified xsi:type="dcterms:W3CDTF">2026-03-28T05:50:20Z</dcterms:modified>
</cp:coreProperties>
</file>