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image" Target="../media/image-34-7.png"/><Relationship Id="rId8" Type="http://schemas.openxmlformats.org/officeDocument/2006/relationships/image" Target="../media/image-3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" TargetMode="External"/><Relationship Id="rId6" Type="http://schemas.openxmlformats.org/officeDocument/2006/relationships/hyperlink" Target="https://skillbuilder.aws" TargetMode="External"/><Relationship Id="rId9" Type="http://schemas.openxmlformats.org/officeDocument/2006/relationships/hyperlink" Target="https://aws.amazon.com/getting-started" TargetMode="External"/><Relationship Id="rId12" Type="http://schemas.openxmlformats.org/officeDocument/2006/relationships/hyperlink" Target="https://aws.amazon.com/certification" TargetMode="External"/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4" Type="http://schemas.openxmlformats.org/officeDocument/2006/relationships/image" Target="../media/image-47-3.png"/><Relationship Id="rId5" Type="http://schemas.openxmlformats.org/officeDocument/2006/relationships/image" Target="../media/image-47-4.svg"/><Relationship Id="rId7" Type="http://schemas.openxmlformats.org/officeDocument/2006/relationships/image" Target="../media/image-47-5.png"/><Relationship Id="rId8" Type="http://schemas.openxmlformats.org/officeDocument/2006/relationships/image" Target="../media/image-47-6.svg"/><Relationship Id="rId10" Type="http://schemas.openxmlformats.org/officeDocument/2006/relationships/image" Target="../media/image-47-7.png"/><Relationship Id="rId11" Type="http://schemas.openxmlformats.org/officeDocument/2006/relationships/image" Target="../media/image-47-8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502920"/>
            <a:ext cx="731520" cy="731520"/>
          </a:xfrm>
          <a:prstGeom prst="ellipse">
            <a:avLst/>
          </a:prstGeom>
          <a:solidFill>
            <a:srgbClr val="60A5FA">
              <a:alpha val="20000"/>
            </a:srgbClr>
          </a:solidFill>
          <a:ln w="19050">
            <a:solidFill>
              <a:srgbClr val="60A5FA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0" y="5577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0A5F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1362456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WEB SERVICES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Cloud 입문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3566160" y="2459736"/>
            <a:ext cx="2011680" cy="36576"/>
          </a:xfrm>
          <a:prstGeom prst="rect">
            <a:avLst/>
          </a:prstGeom>
          <a:solidFill>
            <a:srgbClr val="60A5FA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55117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인프라의 기초부터 실전 활용까지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" y="2935224"/>
            <a:ext cx="7955280" cy="2048256"/>
          </a:xfrm>
          <a:prstGeom prst="rect">
            <a:avLst/>
          </a:prstGeom>
          <a:solidFill>
            <a:srgbClr val="000000">
              <a:alpha val="32000"/>
            </a:srgbClr>
          </a:solidFill>
          <a:ln w="9525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7406640" cy="179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Web Services는 전 세계에서 가장 널리 사용되는 클라우드 플랫폼입니다. 서버, 네트워크, 스토리지를 직접 구매하지 않고 인터넷을 통해 필요한 만큼 빌려 사용하는 방식으로 IT 인프라의 패러다임을 바꾸었습니다.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vs 클라우드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(기존 방식)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C084FC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직접 구매하고 설치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713586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공간, 전기, 냉방 비용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92731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대비 미리 과잉 구매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71877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 직접 하드웨어 교체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51022"/>
            <a:ext cx="146304" cy="146304"/>
          </a:xfrm>
          <a:prstGeom prst="ellipse">
            <a:avLst/>
          </a:prstGeom>
          <a:solidFill>
            <a:srgbClr val="C084FC">
              <a:alpha val="6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0408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수개월 걸리는 인프라 도입 기간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CapEx 모델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70304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688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도입 기간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7688" y="3648456"/>
            <a:ext cx="1094232" cy="219456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426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유연성 낮음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(AWS)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1324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빌려서 사용, 소유 불필요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71358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1324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사용한 시간, 용량만큼만 비용 지불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192731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1324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급증 시 수 분 내 자동 확장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2671877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1324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발생 시 자동 복구 설계 가능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15102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41324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시작, 언제든 종료 가능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12080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4865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OpEx 모델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79464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604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시작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46848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342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확장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4087368"/>
            <a:ext cx="256032" cy="25603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분 내 인프라 구성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608" y="4087368"/>
            <a:ext cx="256032" cy="256032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자동 조정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5736" y="4087368"/>
            <a:ext cx="256032" cy="25603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쓴 만큼만 지불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2864" y="4087368"/>
            <a:ext cx="256032" cy="256032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</a:t>
            </a:r>
            <a:endParaRPr lang="en-US" sz="1000" dirty="0"/>
          </a:p>
        </p:txBody>
      </p:sp>
      <p:sp>
        <p:nvSpPr>
          <p:cNvPr id="70" name="Text 64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즉시 배포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컴퓨팅이란?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NIST가 정의한 5가지 핵심 특성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724912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2646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39118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 셀프서비스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2560320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 요청하지 않고 사용자가 직접 서버, 스토리지를 즉시 프로비저닝. 콘솔이나 API로 바로 생성.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9544" y="1906524"/>
            <a:ext cx="2724912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15968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8622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75381" y="2674620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275381" y="2848356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광대역 네트워크 접근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291840" y="3268980"/>
            <a:ext cx="2560320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인터넷만 있으면 PC, 모바일, 태블릿 어디서든 접근 가능. 위치와 기기에 제한 없음.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99048" y="1906524"/>
            <a:ext cx="2724912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20547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812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64885" y="2674620"/>
            <a:ext cx="25932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164885" y="2848356"/>
            <a:ext cx="259323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풀링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181344" y="3268980"/>
            <a:ext cx="2560320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고객이 물리 자원을 공유(멀티테넌시). 각 고객은 완전히 격리된 가상 환경에서 사용.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컴퓨팅이란?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NIST가 정의한 5가지 핵심 특성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탄력성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수요에 따라 자원을 자동으로 늘리거나 줄임. 급격한 트래픽 증가에도 즉각 대응.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특성 5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가능한 서비스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사용량을 자동으로 측정, 모니터링, 리포트. 사용자와 제공자 모두 투명하게 파악. 사용한 만큼 정확히 과금.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클라우드가 바꾼 것들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이전과 이후, 실제 기업들이 경험한 변화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스타트업의 변화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구매 없이 서비스 런칭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과거에는 수억 원 서버 투자가 먼저. 지금은 신용카드 하나로 당일 서비스 출시 가능.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진출 장벽 제거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데이터센터 계약 없이 AWS 리전만 선택하면 어느 나라에서든 낮은 지연으로 서비스.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팀 없이도 운영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관리, 패치, 백업을 AWS가 처리. 소수의 개발자가 수백만 사용자 서비스를 운영.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대기업의 변화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구조 전환 (CapEx → OpEx)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대규모 투자 없이 사용량 기반 운영 비용으로 전환. 재무적 유연성 확보.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속도 10배 향상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준비에 수개월 걸리던 것이 수 분으로. 새 서비스를 훨씬 빠르게 시장에 투입.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피크 트래픽 대응 자동화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블랙프라이데이, 수능 원서 접수처럼 일시적 폭증에도 자동 확장. 서버 증설 인력 불필요.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기업들의 클라우드 활용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매일 쓰는 서비스들이 AWS에서 돌아갑니다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실사례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쿠팡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새벽배송 폭주해도 자동 확장, 끝나면 자동 축소. 수백만 주문을 안정적으로 처리.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실사례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넷플릭스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전 세계 1억명 동시 스트리밍. AWS 없이는 불가능했을 규모.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실사례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배달의민족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점심·저녁 피크 타임에만 서버 자동 증가. 새벽엔 자동으로 줄어 비용 절감.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실사례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카카오톡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수능 합격 발표날 폭발적 트래픽도 무중단. 평소 대비 수십 배 급증을 자동 처리.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서비스 모델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직접 관리할 것인가에 따라 세 가지로 나뉩니다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97280"/>
            <a:ext cx="475488" cy="475488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359" y="120188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Infrastructure as a Service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2359152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서버, 네트워크, 스토리지를 제공. 운영체제부터 앱까지 직접 관리. 가장 많은 제어권.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60A5FA">
                <a:alpha val="3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EC2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VPC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EBS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S3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9544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1097280"/>
            <a:ext cx="475488" cy="475488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63" y="1201887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00984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PaaS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00984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 as a Service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92424" y="2212848"/>
            <a:ext cx="2359152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92424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관리는 AWS가 담당. 개발자는 코드 작성에만 집중. 배포 플랫폼을 서비스로 제공.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2424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4ADE80">
                <a:alpha val="38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83864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Elastic Beanstalk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Lambda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RDS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Amplify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48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223760" y="1097280"/>
            <a:ext cx="475488" cy="475488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8367" y="120188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90488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SaaS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90488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Software as a Service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81928" y="2212848"/>
            <a:ext cx="2359152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소프트웨어를 서비스로 사용. 설치, 유지보수 없이 바로 사용. 최소한의 관리.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81928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C084FC">
                <a:alpha val="38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73368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WorkSpaces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Chime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AWS WorkMail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Amazon Connect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클라우드 서비스 제공자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클라우드 시장은 AWS, Azure, GCP 세 곳이 약 65%를 점유합니다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 AWS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31%. 2006년 출시, 가장 오래된 클라우드 플랫폼. 서비스 수 200개 이상. 스타트업부터 정부기관까지 가장 폭넓게 사용.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Azure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25%. 기업용 Windows, Office365와 연계 강점. 기존 마이크로소프트 제품을 사용하는 대기업에 적합.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클라우드 서비스 제공자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클라우드 시장은 AWS, Azure, GCP 세 곳이 약 65%를 점유합니다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3위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 Cloud (GCP)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점유율 약 11%. 빅데이터, 머신러닝 분야 강점. BigQuery, TensorFlow 등 데이터 분석 특화. 기술 혁신 빠름.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기타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클라우드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Cloud, KT Cloud, NHN Cloud 등 국내 사업자도 활발. 공공기관 데이터 규제 대응, 국내 기술 지원 강점.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— 클라우드 1위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출시 이후 한 번도 1위를 내준 적 없는 클라우드 플랫폼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출시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Amazon이 내부 인프라를 서비스화. S3, EC2로 시작. 클라우드 시장 자체를 개척. 경쟁사 대비 4~5년 앞선 출발.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규모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200개 이상 서비스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컴퓨팅, 스토리지, DB, 네트워크, 보안, AI/ML, IoT, 게임 등 IT 전 분야 서비스 제공.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— 클라우드 1위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2006년 출시 이후 한 번도 1위를 내준 적 없는 클라우드 플랫폼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34개 리전 운영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34개 리전, 108개 가용 영역. 서울 포함. 경쟁사 대비 가장 넓은 글로벌 커버리지.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파트너 수천 곳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Netflix, Airbnb, 삼성, 카카오, 쿠팡 등 사용. AWS 전문 파트너사(MSP) 수천 곳. 방대한 생태계.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글로벌 인프라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물리적인 데이터센터가 어떻게 구성되어 있는지 이해하면 장애 없는 서비스를 설계할 수 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구성 단위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(Region)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지리적으로 독립된 데이터센터 클러스터. 사용자와 가까운 리전 선택 시 응답 속도 향상. 데이터 주권(현지 법규) 충족.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(Availability Zone)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안에 2~6개의 물리적으로 분리된 데이터센터. 전력, 네트워크, 냉방이 완전 독립. 하나가 장애 나도 다른 AZ에서 서비스 유지.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로케이션 (Edge Location)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600개 이상의 캐시 서버. CloudFront CDN이 사용. 사용자 가까이에서 응답하여 지연 최소화.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리전 (ap-northeast-2)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2016년 개설, 4개 가용 영역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국내에서 가장 낮은 지연 시간. 국내 기업, 공공기관 대부분이 서울 리전 사용.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설계의 중요성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서비스를 2개 이상의 AZ에 분산 배치하면 데이터센터 하나가 다운돼도 서비스 지속. 고가용성의 기본.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선택 기준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위치(지연), 법적 규제(데이터 현지화), 서비스 가용 여부, 비용(리전마다 가격 상이).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글로벌 인프라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리전, 가용 영역, 엣지 로케이션을 일상 개념으로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= 도시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서울, 도쿄처럼 지리적으로 떨어진 독립 데이터센터 클러스터. 가까운 도시를 선택하면 빠르고 법규도 충족.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 = 건물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도시 안 서로 다른 건물. 하나 정전돼도 옆 건물은 정상 운영. 2개 이상 AZ 분산이 기본.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엣지 = 편의점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600곳에 캐시 서버. 가장 가까운 곳에서 즉시 응답. 멀리 있는 본점까지 갈 필요 없음.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ap-northeast-2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카카오, 쿠팡, 네이버, 토스 모두 서울 리전 사용. 국내 서비스라면 이 리전이 기본 선택.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글로벌 인프라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리전 → 가용 영역 → 데이터센터의 물리적 계층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86384"/>
            <a:ext cx="2377440" cy="4229100"/>
          </a:xfrm>
          <a:prstGeom prst="rect">
            <a:avLst/>
          </a:prstGeom>
          <a:solidFill>
            <a:srgbClr val="080E1C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595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34개 리전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152144"/>
            <a:ext cx="210312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188720"/>
            <a:ext cx="2194560" cy="475488"/>
          </a:xfrm>
          <a:prstGeom prst="rect">
            <a:avLst/>
          </a:prstGeom>
          <a:solidFill>
            <a:srgbClr val="2D1B0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2529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Seoul ★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4447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Tokyo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97510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ap-northeast-1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Singapore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50545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ap-southeast-1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816352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N. Virginia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0358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us-east-1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3346704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Ireland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eu-west-1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+ 29개 리전 더...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613148"/>
            <a:ext cx="210312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668012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Edge Location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20040" y="4832604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 600개+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788920" y="2900934"/>
            <a:ext cx="256032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081528" y="786384"/>
            <a:ext cx="5742432" cy="4229100"/>
          </a:xfrm>
          <a:prstGeom prst="rect">
            <a:avLst/>
          </a:prstGeom>
          <a:solidFill>
            <a:srgbClr val="100800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81528" y="859536"/>
            <a:ext cx="574243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 서울 리전 (ap-northeast-2)  — 4개 가용 영역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18688" y="1170432"/>
            <a:ext cx="5468112" cy="0"/>
          </a:xfrm>
          <a:prstGeom prst="line">
            <a:avLst/>
          </a:prstGeom>
          <a:noFill/>
          <a:ln w="10160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1261872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1353312"/>
            <a:ext cx="2350008" cy="310896"/>
          </a:xfrm>
          <a:prstGeom prst="rect">
            <a:avLst/>
          </a:prstGeom>
          <a:solidFill>
            <a:srgbClr val="0D2B0D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1353312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173736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83280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9926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6572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73218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2772918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035040" y="1261872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1353312"/>
            <a:ext cx="2350008" cy="310896"/>
          </a:xfrm>
          <a:prstGeom prst="rect">
            <a:avLst/>
          </a:prstGeom>
          <a:solidFill>
            <a:srgbClr val="0D2B0D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1353312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AZ-b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72200" y="173736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72200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8846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5492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962138" y="2212848"/>
            <a:ext cx="560070" cy="523494"/>
          </a:xfrm>
          <a:prstGeom prst="rect">
            <a:avLst/>
          </a:prstGeom>
          <a:solidFill>
            <a:srgbClr val="4ADE80">
              <a:alpha val="28000"/>
            </a:srgbClr>
          </a:solidFill>
          <a:ln w="7620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2772918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246120" y="3065526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3156966"/>
            <a:ext cx="2350008" cy="310896"/>
          </a:xfrm>
          <a:prstGeom prst="rect">
            <a:avLst/>
          </a:prstGeom>
          <a:solidFill>
            <a:srgbClr val="0A162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383280" y="3156966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0" y="3541014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83280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79926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6572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173218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576572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5040" y="3065526"/>
            <a:ext cx="2624328" cy="1639062"/>
          </a:xfrm>
          <a:prstGeom prst="rect">
            <a:avLst/>
          </a:prstGeom>
          <a:solidFill>
            <a:srgbClr val="0A0E0A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156966"/>
            <a:ext cx="2350008" cy="310896"/>
          </a:xfrm>
          <a:prstGeom prst="rect">
            <a:avLst/>
          </a:prstGeom>
          <a:solidFill>
            <a:srgbClr val="0A1628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156966"/>
            <a:ext cx="235000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가용 영역  AZ-d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72200" y="3541014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독립 운영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전력·냉방·네트워크 분리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72200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68846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65492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962138" y="4016502"/>
            <a:ext cx="560070" cy="523494"/>
          </a:xfrm>
          <a:prstGeom prst="rect">
            <a:avLst/>
          </a:prstGeom>
          <a:solidFill>
            <a:srgbClr val="60A5FA">
              <a:alpha val="28000"/>
            </a:srgbClr>
          </a:solidFill>
          <a:ln w="7620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4576572"/>
            <a:ext cx="2350008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클러스터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— 나만의 사설 네트워크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VPC(Virtual Private Cloud)는 AWS 안에 만드는 격리된 네트워크 공간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격리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네트워크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AWS 고객과 완전히 분리된 가상 네트워크. IP 대역을 직접 정의 (예: 10.0.0.0/16). 기본 VPC는 계정 생성 시 자동 제공.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/ Private 서브넷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직접 연결되는 퍼블릭 서브넷과 외부 차단된 프라이빗 서브넷으로 구역을 나눔. 목적에 따라 리소스 배치.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— 나만의 사설 네트워크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VPC(Virtual Private Cloud)는 AWS 안에 만드는 격리된 네트워크 공간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IGW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게이트웨이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VPC를 인터넷에 연결하는 문. 없으면 외부 통신 완전 불가. 퍼블릭 서브넷에 연결하여 외부 접근 허용.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방화벽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그룹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인스턴스 앞에 붙는 방화벽. 허용 규칙만 설정 (기본 전체 차단). 포트, IP 단위로 접근 제어.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구성요소 상세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안전하고 체계적인 네트워크 설계를 위한 핵심 구성요소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경로 제어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테이블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패킷이 어디로 갈지 결정하는 지도. 서브넷마다 별도 설정. 인터넷 게이트웨이 또는 NAT 게이트웨이로 경로 지정.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 게이트웨이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프라이빗 서브넷의 서버가 인터넷으로 나갈 수 있게 해주는 번역기. 외부에서는 접근 불가 — 단방향 출구.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Peering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VPC를 직접 연결하는 사설 채널. 다른 계정이나 리전의 VPC도 연결 가능. 인터넷을 거치지 않음.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5803D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계층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5803D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그룹 (Security Group)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단위 방화벽. Stateful — 허용된 요청의 응답은 자동 통과. 어떤 포트를, 누구에게 열지 설정.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ACL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단위 방화벽. Stateless — 인바운드, 아웃바운드 규칙 각각 설정. 추가적인 방어선 역할.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배치 패턴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웹서버는 퍼블릭 서브넷, 앱서버와 DB는 프라이빗 서브넷. 외부에서 DB에 직접 접근 불가 구조.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VPC 보안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보안 개념을 일상 비유로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 = 도로 표지판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패킷이 어디로 갈지 알려주는 지도. 인터넷행, 내부행 경로를 서브넷마다 따로 지정.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 = 대표번호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내부에서 외부로만 연결. 외부에서는 내부 서버 주소를 알 수 없어 안전.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그룹 = 경비원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허가된 포트만 통과. 80(웹), 443(HTTPS), 22(SSH) 외 전부 차단. 인스턴스마다 다르게 설정.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ACL = 아파트 입구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서브넷 전체에 적용되는 관문. 보안 그룹 앞단의 추가 방어선. 인바운드/아웃바운드 각각 설정.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퍼블릭/프라이빗 서브넷 · 보안 그룹 · NAT 게이트웨이의 실제 배치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01138" y="786384"/>
            <a:ext cx="3741725" cy="347472"/>
          </a:xfrm>
          <a:prstGeom prst="rect">
            <a:avLst/>
          </a:prstGeom>
          <a:solidFill>
            <a:srgbClr val="1E293B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01138" y="786384"/>
            <a:ext cx="3741725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 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133856"/>
            <a:ext cx="0" cy="128016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0040" y="1261872"/>
            <a:ext cx="8503920" cy="3717036"/>
          </a:xfrm>
          <a:prstGeom prst="rect">
            <a:avLst/>
          </a:prstGeom>
          <a:solidFill>
            <a:srgbClr val="060F1E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3167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 10.0.0.0/16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33422" y="1517904"/>
            <a:ext cx="4677156" cy="310896"/>
          </a:xfrm>
          <a:prstGeom prst="rect">
            <a:avLst/>
          </a:prstGeom>
          <a:solidFill>
            <a:srgbClr val="1E3A5F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3422" y="1517904"/>
            <a:ext cx="46771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 Gateway (IGW)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0" cy="10972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1938528"/>
            <a:ext cx="8138160" cy="1657350"/>
          </a:xfrm>
          <a:prstGeom prst="rect">
            <a:avLst/>
          </a:prstGeom>
          <a:solidFill>
            <a:srgbClr val="0A1E35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1984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Public Subnet  (10.0.1.0/24)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9224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3176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3176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Server ①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77128" y="2176272"/>
            <a:ext cx="2517648" cy="686943"/>
          </a:xfrm>
          <a:prstGeom prst="rect">
            <a:avLst/>
          </a:prstGeom>
          <a:solidFill>
            <a:srgbClr val="0C3B5C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7128" y="2176272"/>
            <a:ext cx="2517648" cy="68694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Server ②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76072" y="2139696"/>
            <a:ext cx="7991856" cy="760095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38BDF8">
                <a:alpha val="65000"/>
              </a:srgbClr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7498080" y="1984248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Group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91840" y="2945511"/>
            <a:ext cx="2560320" cy="622935"/>
          </a:xfrm>
          <a:prstGeom prst="rect">
            <a:avLst/>
          </a:prstGeom>
          <a:solidFill>
            <a:srgbClr val="1A2E1A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945511"/>
            <a:ext cx="2560320" cy="62293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(단방향 출구)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3595878"/>
            <a:ext cx="0" cy="10972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2920" y="3705606"/>
            <a:ext cx="8138160" cy="1200150"/>
          </a:xfrm>
          <a:prstGeom prst="rect">
            <a:avLst/>
          </a:prstGeom>
          <a:solidFill>
            <a:srgbClr val="130A2E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5132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Private Subnet  (10.0.2.0/24)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Server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13176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3176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DB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77128" y="3961638"/>
            <a:ext cx="2517648" cy="870966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7128" y="3961638"/>
            <a:ext cx="2517648" cy="870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Replica DB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30824" y="4397121"/>
            <a:ext cx="146304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77128" y="4397121"/>
            <a:ext cx="-146304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76072" y="3915918"/>
            <a:ext cx="7991856" cy="962406"/>
          </a:xfrm>
          <a:prstGeom prst="rect">
            <a:avLst/>
          </a:prstGeom>
          <a:solidFill>
            <a:srgbClr val="000000">
              <a:alpha val="0"/>
            </a:srgbClr>
          </a:solidFill>
          <a:ln w="11430">
            <a:solidFill>
              <a:srgbClr val="A78BFA">
                <a:alpha val="65000"/>
              </a:srgbClr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7498080" y="3751326"/>
            <a:ext cx="10515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 Group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— 클라우드 가상 서버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 Compute Cloud. 원하는 사양의 서버를 수 분 내에 시작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서버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서버를 가상화한 컴퓨팅 단위. CPU, 메모리, 스토리지 조합을 목적에 맞게 선택. 운영체제도 직접 선택 (Linux, Windows).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인스턴스유형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목적별 선택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t-계열 (범용/저렴), m-계열 (균형), c-계열 (컴퓨팅), r-계열 (메모리 집약), g-계열 (GPU). 수십 가지 타입 중 선택.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— 클라우드 가상 서버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 Compute Cloud. 원하는 사양의 서버를 수 분 내에 시작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Scaling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시 자동으로 인스턴스 추가, 감소 시 자동 제거. 비용 낭비 없이 성능 유지. 최소·최대·희망 수량 설정.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EC2에 트래픽을 자동 분산. 하나의 서버에 장애가 나도 나머지가 계속 처리. ALB, NLB, CLB 세 종류 제공.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인스턴스 유형과 요금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인스턴스를 선택하느냐에 따라 성능과 비용이 크게 달라집니다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인스턴스 패밀리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t3/t4g — 범용 버스트 (가장 저렴)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평소엔 낮은 성능, 필요 시 순간 성능 향상. 개발, 테스트, 소규모 웹서버에 적합. 프리 티어로 t2.micro 무료.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m6i/m7g — 범용 균형형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네트워크 균형. 웹앱, 중소규모 DB, 게임 서버 등 가장 일반적인 워크로드에 사용.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c7g — 컴퓨팅 최적화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집약적 작업에 특화. 동영상 인코딩, 배치 처리, 고성능 웹서버에 적합.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1D4ED8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요금 모델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1D4ED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시간(초) 단위 과금. 약정 없음. 예측 불가능한 트래픽이나 테스트 환경. 가장 유연하나 가장 비쌈.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인스턴스 (RI)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또는 3년 약정 시 최대 72% 할인. 안정적으로 24시간 운영되는 서비스에 적합. 비용 예측 가능.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스팟 인스턴스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여유 자원 활용, 최대 90% 저렴. 언제든 중단될 수 있어 배치 작업, 데이터 처리에 적합.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EC2 인스턴스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60A5FA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 종류처럼 목적에 맞게 고르면 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 = 일반 노트북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가볍고 저렴. 블로그, 소규모 API, 개발 환경에 적합. 프리 티어로 t2.micro를 무료로 체험 가능.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m6i = 사무용 데스크탑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CPU·메모리 균형. 일반적인 웹서비스, 중소 DB에 가장 많이 사용. 가성비 좋은 범용 선택.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c7g = 편집용 워크스테이션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특화. 동영상 인코딩, 대량 계산, 고성능 API 서버에 적합. 연산 집약적 작업 전용.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r계열 = 대용량 RAM PC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집약적 작업. 인메모리 DB, 빅데이터 처리에 사용. 메모리가 많이 필요한 경우 선택.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무제한 객체 스토리지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 Storage Service. 이미지, 동영상, 백업, 로그 등 모든 파일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버킷과 객체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버킷(Bucket) = 최상위 폴더. 객체(Object) = 파일. 버킷 이름은 전 세계 고유해야 함. 파일 하나당 최대 5TB.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내구성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99.999999999%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이른바 11 nine 내구성. 데이터를 3개 이상의 AZ에 자동 복제. 사실상 데이터 손실이 없는 수준의 안정성.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— 무제한 객체 스토리지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Simple Storage Service. 이미지, 동영상, 백업, 로그 등 모든 파일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웹사이트 호스팅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HTML, CSS, JS 파일을 S3에 업로드하면 바로 웹사이트로 서비스 가능. 서버 없이 정적 사이트 운영 가능.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스토리지 클래스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Standard(자주 접근), IA(가끔 접근), Glacier(장기 아카이브) 등. 접근 빈도에 따라 선택해 비용 최적화.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활용 패턴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S3는 단순한 파일 저장소가 아닙니다 — AWS 서비스 전반에서 중심 역할을 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활용 사례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B923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자산 서빙 + CloudFront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이미지, 동영상, CSS, JS 등을 S3에 저장하고 CloudFront CDN과 연결. 전 세계 사용자에게 빠르게 전달.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 및 아카이브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스냅샷, DB 백업, 로그 파일을 S3에 자동 저장. Glacier로 이동하면 장기 보관 비용 대폭 절감.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레이크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정형, 비정형 데이터를 S3에 집중 저장. Athena, Redshift 등으로 바로 분석. 별도 데이터 이동 불필요.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2410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C2410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(Versioning)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덮어써도 이전 버전 보존. 실수로 삭제하거나 잘못 덮어쓴 파일 복원 가능. 규정 준수에도 활용.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수명 주기 정책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기간 후 자동으로 스토리지 클래스 변경 또는 삭제. 예: 90일 후 IA, 1년 후 Glacier 이동.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버킷 정책 및 ACL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IP, 계정, 서비스에만 접근 허용. 퍼블릭 공개 여부 제어. IAM 정책과 결합하여 세밀한 권한 관리.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B923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S3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B923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저장소를 넘어 다양하게 활용하는 S3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= 구글 드라이브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업로드해두면 어디서든 링크로 접근. 용량 제한 없고 11 nine 내구성. 기업용 스케일.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Glacier = 창고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안 꺼내는 물건은 창고로. 비용 대폭 절감. 꺼내는 데 수 분~수 시간. 오래된 로그, 백업에 적합.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버전관리 = 구글 Docs 기록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덮어써도 이전 버전 복원 가능. 어제 파일로 돌려줘가 그냥 됨. 실수로 삭제해도 복구 가능.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FB923C">
              <a:alpha val="25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호스팅 = 파일만으로 운영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없이 HTML 파일만 올려도 전 세계에서 접속 가능. CloudFront와 연결하면 초고속.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데이터베이스 선택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352544" y="2089404"/>
            <a:ext cx="438912" cy="438912"/>
          </a:xfrm>
          <a:prstGeom prst="ellipse">
            <a:avLst/>
          </a:prstGeom>
          <a:solidFill>
            <a:srgbClr val="1E293B">
              <a:alpha val="80000"/>
            </a:srgbClr>
          </a:solidFill>
          <a:ln w="9525">
            <a:solidFill>
              <a:srgbClr val="64748B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52544" y="20894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— 관계형 DB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106424"/>
            <a:ext cx="3429000" cy="0"/>
          </a:xfrm>
          <a:prstGeom prst="line">
            <a:avLst/>
          </a:prstGeom>
          <a:noFill/>
          <a:ln w="635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234440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70408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 형태(행, 열)로 데이터 저장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1713586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70408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MySQL, PostgreSQL, Oracle 등 지원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192731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70408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JOIN 쿼리, 트랜잭션에 강함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671877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0408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자동 복제로 고가용성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151022"/>
            <a:ext cx="146304" cy="146304"/>
          </a:xfrm>
          <a:prstGeom prst="ellipse">
            <a:avLst/>
          </a:prstGeom>
          <a:solidFill>
            <a:srgbClr val="60A5FA">
              <a:alpha val="68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70408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백업, 패치, 장애복구 AWS가 관리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 정보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70304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688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주문, 결제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837688" y="3648456"/>
            <a:ext cx="1094232" cy="219456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7426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621792"/>
            <a:ext cx="3794760" cy="3374136"/>
          </a:xfrm>
          <a:prstGeom prst="rect">
            <a:avLst/>
          </a:prstGeom>
          <a:solidFill>
            <a:srgbClr val="1E293B">
              <a:alpha val="42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768096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 — NoSQL DB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212080" y="1106424"/>
            <a:ext cx="3429000" cy="0"/>
          </a:xfrm>
          <a:prstGeom prst="line">
            <a:avLst/>
          </a:prstGeom>
          <a:noFill/>
          <a:ln w="6350">
            <a:solidFill>
              <a:srgbClr val="4ADE8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12080" y="1234440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225296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413248" y="1188720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Key-Value, Document 형태 저장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0" y="1713586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212080" y="1704442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413248" y="1667866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없이 자유로운 데이터 구조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192731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212080" y="2183587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413248" y="2147011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수백만 요청 밀리초 이내 응답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212080" y="2671877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212080" y="2662733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5413248" y="2626157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 — 용량 관리 불필요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212080" y="3151022"/>
            <a:ext cx="146304" cy="146304"/>
          </a:xfrm>
          <a:prstGeom prst="ellipse">
            <a:avLst/>
          </a:prstGeom>
          <a:solidFill>
            <a:srgbClr val="4ADE80">
              <a:alpha val="68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212080" y="3141878"/>
            <a:ext cx="1463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413248" y="3105302"/>
            <a:ext cx="3355848" cy="479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쓰기, 단순 조회에 최적화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212080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48656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데이터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379464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6040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46848" y="3648456"/>
            <a:ext cx="1094232" cy="219456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3424" y="3666744"/>
            <a:ext cx="1021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IoT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20040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5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4087368"/>
            <a:ext cx="256032" cy="256032"/>
          </a:xfrm>
          <a:prstGeom prst="rect">
            <a:avLst/>
          </a:prstGeom>
        </p:spPr>
      </p:pic>
      <p:sp>
        <p:nvSpPr>
          <p:cNvPr id="57" name="Text 54"/>
          <p:cNvSpPr/>
          <p:nvPr/>
        </p:nvSpPr>
        <p:spPr>
          <a:xfrm>
            <a:off x="704088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411480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 기반 인메모리 캐시. DB 부하 감소.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2487168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8608" y="4087368"/>
            <a:ext cx="256032" cy="256032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2871216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</a:t>
            </a:r>
            <a:endParaRPr lang="en-US" sz="1000" dirty="0"/>
          </a:p>
        </p:txBody>
      </p:sp>
      <p:sp>
        <p:nvSpPr>
          <p:cNvPr id="62" name="Text 58"/>
          <p:cNvSpPr/>
          <p:nvPr/>
        </p:nvSpPr>
        <p:spPr>
          <a:xfrm>
            <a:off x="2578608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호환, 최대 5배 빠른 AWS 자체 DB.</a:t>
            </a:r>
            <a:endParaRPr lang="en-US" sz="850" dirty="0"/>
          </a:p>
        </p:txBody>
      </p:sp>
      <p:sp>
        <p:nvSpPr>
          <p:cNvPr id="63" name="Shape 59"/>
          <p:cNvSpPr/>
          <p:nvPr/>
        </p:nvSpPr>
        <p:spPr>
          <a:xfrm>
            <a:off x="4654296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5736" y="4087368"/>
            <a:ext cx="256032" cy="256032"/>
          </a:xfrm>
          <a:prstGeom prst="rect">
            <a:avLst/>
          </a:prstGeom>
        </p:spPr>
      </p:pic>
      <p:sp>
        <p:nvSpPr>
          <p:cNvPr id="65" name="Text 60"/>
          <p:cNvSpPr/>
          <p:nvPr/>
        </p:nvSpPr>
        <p:spPr>
          <a:xfrm>
            <a:off x="5038344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Redshift</a:t>
            </a:r>
            <a:endParaRPr lang="en-US" sz="1000" dirty="0"/>
          </a:p>
        </p:txBody>
      </p:sp>
      <p:sp>
        <p:nvSpPr>
          <p:cNvPr id="66" name="Text 61"/>
          <p:cNvSpPr/>
          <p:nvPr/>
        </p:nvSpPr>
        <p:spPr>
          <a:xfrm>
            <a:off x="4745736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페타바이트급 대용량 데이터 분석 전용.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6821424" y="4032504"/>
            <a:ext cx="2002536" cy="914400"/>
          </a:xfrm>
          <a:prstGeom prst="rect">
            <a:avLst/>
          </a:prstGeom>
          <a:solidFill>
            <a:srgbClr val="1E293B">
              <a:alpha val="45000"/>
            </a:srgbClr>
          </a:solidFill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12864" y="4087368"/>
            <a:ext cx="256032" cy="256032"/>
          </a:xfrm>
          <a:prstGeom prst="rect">
            <a:avLst/>
          </a:prstGeom>
        </p:spPr>
      </p:pic>
      <p:sp>
        <p:nvSpPr>
          <p:cNvPr id="69" name="Text 63"/>
          <p:cNvSpPr/>
          <p:nvPr/>
        </p:nvSpPr>
        <p:spPr>
          <a:xfrm>
            <a:off x="7205472" y="4105656"/>
            <a:ext cx="1545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DocumentDB</a:t>
            </a:r>
            <a:endParaRPr lang="en-US" sz="1000" dirty="0"/>
          </a:p>
        </p:txBody>
      </p:sp>
      <p:sp>
        <p:nvSpPr>
          <p:cNvPr id="70" name="Text 64"/>
          <p:cNvSpPr/>
          <p:nvPr/>
        </p:nvSpPr>
        <p:spPr>
          <a:xfrm>
            <a:off x="6912864" y="4398264"/>
            <a:ext cx="181965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MongoDB 호환 문서형 DB.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핵심 기능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RDS는 직접 DB를 설치, 운영하는 번거로움 없이 관리형으로 사용하는 관계형 데이터베이스 서비스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관리형의 장점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자동 스냅샷 생성. 최대 35일 보관. 특정 시점으로 복원(Point-in-Time Recovery) 지원. 데이터 손실 위험 최소화.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배포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DB와 대기 DB를 서로 다른 AZ에 배치. 주 DB에 장애 발생 시 수초 내 자동 페일오버. 서비스 중단 없이 전환.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복제본 (Read Replica)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데이터를 가진 읽기 전용 인스턴스 추가. 읽기 트래픽을 분산하여 주 DB 부하 감소. 최대 5개까지 생성 가능.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선택 가이드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MySQL, PostgreSQL → 범용 웹서비스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회원, 게시판, 쇼핑몰처럼 관계형 데이터가 필요한 일반적인 웹 애플리케이션에 적합.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→ 고성능 필요 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MySQL 대비 최대 5배 빠른 성능. 자동 스케일링 스토리지. 고트래픽 서비스에 적합하나 비용 높음.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DynamoDB → 단순 빠른 조회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랭킹, 세션, IoT 센서 데이터처럼 단순 구조에 빠른 읽기, 쓰기가 필요할 때 선택.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RDS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DB의 핵심 기능을 일상 개념으로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백업 = 폰 자동 백업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스마트폰이 매일 밤 알아서 백업하듯 RDS도 매일 자동 스냅샷 생성. 아무것도 안 해도 됨.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= 중요 서류 복사 보관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서류를 두 군데 보관. 한 곳에 불이 나도 다른 곳 서류는 안전. 자동으로 전환.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Replica = 복사본 도서관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훼손 방지를 위해 복사본만 대출. 조회 트래픽을 복사본이 처리해 원본 부하 감소.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Aurora = 고성능 엔진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MySQL 문법인데 속도가 최대 5배. 고트래픽 서비스에 최적화. 비용은 더 높음.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— 권한 관리의 기본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"누가, 어떤 리소스에, 무엇을 할 수 있는가"를 정의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사용자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또는 애플리케이션을 위한 계정. 콘솔 로그인용 비밀번호와 API 호출용 액세스 키를 별도로 발급.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그룹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사용자를 묶어 권한 일괄 부여. 개발팀, 운영팀처럼 팀 단위로 정책을 적용하면 관리가 편리.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— 권한 관리의 기본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"누가, 어떤 리소스에, 무엇을 할 수 있는가"를 정의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역할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EC2, Lambda 같은 AWS 서비스가 다른 서비스에 접근할 때 사용. 임시 자격증명 자동 발급. 키를 코드에 하드코딩할 필요 없음.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Policy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정책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문서로 정의하는 권한 규칙. 어떤 서비스의 어떤 동작을, 어떤 리소스에 허용 또는 거부할지 세밀하게 제어.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실전 원칙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IAM을 잘못 설정하면 보안 사고의 직접적인 원인이 됩니다 — 올바른 사용 습관이 중요합니다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F87171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보안 원칙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F87171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권한 원칙 (Least Privilege)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권한만 부여. 처음부터 관리자 권한 부여 금지. 작게 시작해서 필요할 때만 추가. 실수와 침해 피해 최소화.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계정 잠금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최초 생성 시 만들어지는 루트 계정은 MFA 설정 후 일상 사용 금지. 꼭 필요한 경우에만 사용.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MFA (다중 인증) 필수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유출돼도 OTP 등 2차 인증이 없으면 로그인 불가. 모든 계정에 반드시 적용.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B91C1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역할(Role) 활용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B91C1C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EC2에 역할 부여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EC2가 S3, RDS에 접근해야 할 때 액세스 키를 코드에 넣지 말고 EC2에 IAM 역할 부여. 임시 자격증명이 자동 갱신.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Lambda에 역할 부여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함수가 DynamoDB, SES 등을 호출할 때 실행 역할 설정. 최소한의 권한만 포함된 정책을 역할에 연결.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F87171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CloudTrail로 감사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API 호출을 로그로 기록. 누가, 언제, 무엇을 했는지 추적 가능. 보안 사고 발생 시 원인 분석의 핵심.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87171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IAM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F87171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 관리를 일상 개념으로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= 회사 출입증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직급마다 다른 출입 권한. 인턴은 사무실만, 팀장은 서버실도 출입 가능. 사람마다 다른 출입증 발급.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계정 = 마스터키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마스터키는 금고에 잠궈 보관. 일상에서는 절대 꺼내 쓰지 않음. 분실 시 전체 위험.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MFA = 은행 OTP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비밀번호가 유출돼도 OTP 없이는 로그인 불가. 2단계 인증 필수. 스마트폰 OTP 앱 사용.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87171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F87171">
              <a:alpha val="25000"/>
            </a:srgbClr>
          </a:solidFill>
          <a:ln w="9525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= 업무별 권한 카드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EC2가 S3 접근 시 역할 부여. 액세스 키를 코드에 하드코딩할 필요 없음. 자동 갱신.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— 서버 없이 코드 실행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만들지 않고 코드만 올리면 AWS가 알아서 실행. 실행 횟수와 시간만큼만 비용 지불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서버리스의 개념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22D3EE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없다는 의미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서버가 없는 것이 아니라 서버 관리를 AWS가 대신함. 개발자는 코드 로직에만 집중. OS, 패치, 확장 모두 자동.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실행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파일 업로드, API Gateway 요청, 타이머(Cron), DynamoDB 변경 등 다양한 이벤트로 자동 실행. 놀고 있으면 비용 0원.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스케일링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요청이 1건이든 100만 건이든 자동으로 처리. 트래픽 급증에도 수동 개입 불필요. 유휴 상태에서는 과금 없음.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0E749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활용 사례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0E7490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처리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S3에 이미지 업로드 시 Lambda가 자동 실행 → 썸네일 생성, 리사이징, 포맷 변환 후 결과물을 다시 S3에 저장.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백엔드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Gateway + Lambda 조합으로 서버 없는 REST API 구축. EC2 없이 API 서버 운영. 트래픽에 따라 자동 확장.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22D3EE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 배치 작업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EventBridge(Cron) 트리거로 매일 새벽 DB 정리, 리포트 생성, 알림 발송 등 반복 작업 자동화.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Lambda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22D3EE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기반 서버리스를 일상 개념으로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자판기 = 이벤트 기반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동전 넣을 때만 작동. Lambda도 요청 왔을 때만 실행, 대기 비용 없음. 쉬고 있으면 0원.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대리기사 = 필요할 때만 호출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대기하는 직원이 아니라 콜 오면 달려오는 방식. 비용 효율 극대화. 없으면 0원.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= 정기 배치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새벽 자동 실행. EventBridge로 Cron 설정하면 사람 없이 동작. 예약 청소처럼.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22D3EE">
              <a:alpha val="25000"/>
            </a:srgbClr>
          </a:solidFill>
          <a:ln w="9525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실사례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썸네일 자동 생성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업로드 → Lambda 자동 실행 → 리사이징 → S3 저장. 서버 없이 코드만 작성.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아키텍처 패턴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서비스를 설계할 때 가장 많이 사용하는 구조 — 계층 분리로 보안과 확장성을 동시에 확보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1097280"/>
            <a:ext cx="475488" cy="475488"/>
          </a:xfrm>
          <a:prstGeom prst="ellipse">
            <a:avLst/>
          </a:prstGeom>
          <a:solidFill>
            <a:srgbClr val="60A5FA">
              <a:alpha val="25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9359" y="1201887"/>
            <a:ext cx="266273" cy="26627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Tier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11480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프레젠테이션 계층 (Public)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2359152" cy="0"/>
          </a:xfrm>
          <a:prstGeom prst="line">
            <a:avLst/>
          </a:prstGeom>
          <a:noFill/>
          <a:ln w="635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직접 접속. 인터넷에 공개. 로드밸런서로 트래픽 분산. 정적 콘텐츠는 CloudFront, S3로 분리.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60A5FA">
                <a:alpha val="38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ALB (로드밸런서)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EC2 웹서버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CloudFront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S3 정적 파일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9544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1097280"/>
            <a:ext cx="475488" cy="475488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8863" y="1201887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00984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Tier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300984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로직 계층 (Private)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392424" y="2212848"/>
            <a:ext cx="2359152" cy="0"/>
          </a:xfrm>
          <a:prstGeom prst="line">
            <a:avLst/>
          </a:prstGeom>
          <a:noFill/>
          <a:ln w="6350">
            <a:solidFill>
              <a:srgbClr val="4ADE80">
                <a:alpha val="4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92424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처리 담당. 외부 직접 접근 차단. 웹 티어에서만 접속 가능. Auto Scaling으로 탄력적 운영.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392424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4ADE80">
                <a:alpha val="38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83864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EC2 앱서버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Lambda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ECS 컨테이너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Auto Scaling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099048" y="914400"/>
            <a:ext cx="2724912" cy="406908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223760" y="1097280"/>
            <a:ext cx="475488" cy="475488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8367" y="1201887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90488" y="168249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Tier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190488" y="1975104"/>
            <a:ext cx="2542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저장 계층 (Private)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281928" y="2212848"/>
            <a:ext cx="2359152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81928" y="2322576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안전 보관. 가장 엄격하게 격리. 앱 티어에서만 접근 가능. 멀티 AZ 복제로 데이터 보호.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81928" y="3008376"/>
            <a:ext cx="2359152" cy="1883664"/>
          </a:xfrm>
          <a:prstGeom prst="rect">
            <a:avLst/>
          </a:prstGeom>
          <a:solidFill>
            <a:srgbClr val="000000">
              <a:alpha val="28000"/>
            </a:srgbClr>
          </a:solidFill>
          <a:ln w="6350">
            <a:solidFill>
              <a:srgbClr val="C084FC">
                <a:alpha val="3800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73368" y="3081528"/>
            <a:ext cx="21762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RDS (관계형DB)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DynamoDB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ElastiCache</a:t>
            </a:r>
            <a:endParaRPr lang="en-US" sz="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S3 (파일)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8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3-Tier 아키텍처 구성도</a:t>
            </a:r>
            <a:endParaRPr lang="en-US" sz="2880" dirty="0"/>
          </a:p>
        </p:txBody>
      </p:sp>
      <p:sp>
        <p:nvSpPr>
          <p:cNvPr id="5" name="Text 3"/>
          <p:cNvSpPr/>
          <p:nvPr/>
        </p:nvSpPr>
        <p:spPr>
          <a:xfrm>
            <a:off x="777240" y="530352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→ App → Data 계층의 실제 서비스 흐름과 AWS 서비스 배치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786384"/>
            <a:ext cx="8503920" cy="1045845"/>
          </a:xfrm>
          <a:prstGeom prst="rect">
            <a:avLst/>
          </a:prstGeom>
          <a:solidFill>
            <a:srgbClr val="1E293B"/>
          </a:solidFill>
          <a:ln w="9525">
            <a:solidFill>
              <a:srgbClr val="475569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5039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832229"/>
            <a:ext cx="8503920" cy="1045845"/>
          </a:xfrm>
          <a:prstGeom prst="rect">
            <a:avLst/>
          </a:prstGeom>
          <a:solidFill>
            <a:srgbClr val="0C1C2E"/>
          </a:solidFill>
          <a:ln w="9525">
            <a:solidFill>
              <a:srgbClr val="60A5F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896237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 Tier  (Public Subnet)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2878074"/>
            <a:ext cx="8503920" cy="1045845"/>
          </a:xfrm>
          <a:prstGeom prst="rect">
            <a:avLst/>
          </a:prstGeom>
          <a:solidFill>
            <a:srgbClr val="0C1A14"/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94208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Tier  (Private Subnet)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3923919"/>
            <a:ext cx="8503920" cy="1045845"/>
          </a:xfrm>
          <a:prstGeom prst="rect">
            <a:avLst/>
          </a:prstGeom>
          <a:solidFill>
            <a:srgbClr val="1A0D2E"/>
          </a:solidFill>
          <a:ln w="9525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987927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Tier  (Private Subnet)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7724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(Browser)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31720" y="1309307"/>
            <a:ext cx="320040" cy="0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5176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53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(DNS)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0" y="1037387"/>
            <a:ext cx="1554480" cy="543839"/>
          </a:xfrm>
          <a:prstGeom prst="rect">
            <a:avLst/>
          </a:prstGeom>
          <a:solidFill>
            <a:srgbClr val="1E293B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3738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CloudFront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S3 (CDN)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206240" y="1309307"/>
            <a:ext cx="731520" cy="0"/>
          </a:xfrm>
          <a:prstGeom prst="line">
            <a:avLst/>
          </a:prstGeom>
          <a:noFill/>
          <a:ln w="22860">
            <a:solidFill>
              <a:srgbClr val="FB923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29000" y="1581226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947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947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Load Balancer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9659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Web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①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23560" y="2083232"/>
            <a:ext cx="1554480" cy="543839"/>
          </a:xfrm>
          <a:prstGeom prst="rect">
            <a:avLst/>
          </a:prstGeom>
          <a:solidFill>
            <a:srgbClr val="0C3B5C"/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23560" y="208323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Web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DD3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②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94760" y="2355152"/>
            <a:ext cx="-27432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349240" y="2355152"/>
            <a:ext cx="274320" cy="0"/>
          </a:xfrm>
          <a:prstGeom prst="line">
            <a:avLst/>
          </a:prstGeom>
          <a:noFill/>
          <a:ln w="2286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0" y="2627071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61588" y="3129077"/>
            <a:ext cx="2020824" cy="543839"/>
          </a:xfrm>
          <a:prstGeom prst="rect">
            <a:avLst/>
          </a:prstGeom>
          <a:solidFill>
            <a:srgbClr val="0D2B1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1588" y="3129077"/>
            <a:ext cx="2020824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App Server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(Business Logic)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56732" y="3129077"/>
            <a:ext cx="1554480" cy="543839"/>
          </a:xfrm>
          <a:prstGeom prst="rect">
            <a:avLst/>
          </a:prstGeom>
          <a:solidFill>
            <a:srgbClr val="0D2B1A"/>
          </a:solidFill>
          <a:ln w="15240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6732" y="3129077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(Serverless)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582412" y="3400997"/>
            <a:ext cx="274320" cy="0"/>
          </a:xfrm>
          <a:prstGeom prst="line">
            <a:avLst/>
          </a:prstGeom>
          <a:noFill/>
          <a:ln w="22860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572000" y="3672916"/>
            <a:ext cx="0" cy="483718"/>
          </a:xfrm>
          <a:prstGeom prst="line">
            <a:avLst/>
          </a:prstGeom>
          <a:noFill/>
          <a:ln w="2286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587752" y="4174922"/>
            <a:ext cx="1709928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4174922"/>
            <a:ext cx="1709928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 / Aurora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4174922"/>
            <a:ext cx="1709928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4174922"/>
            <a:ext cx="1709928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C4B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(Redis)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297680" y="4446842"/>
            <a:ext cx="548640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086600" y="4174922"/>
            <a:ext cx="1554480" cy="543839"/>
          </a:xfrm>
          <a:prstGeom prst="rect">
            <a:avLst/>
          </a:prstGeom>
          <a:solidFill>
            <a:srgbClr val="2E1065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6600" y="4174922"/>
            <a:ext cx="1554480" cy="54383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(Object Storage)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웹 서비스 구성 예시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585216"/>
            <a:ext cx="7589520" cy="274320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59436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일반적인 쇼핑몰, 커뮤니티 사이트를 AWS로 구성하는 방법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흐름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02920" y="1399032"/>
            <a:ext cx="3794760" cy="0"/>
          </a:xfrm>
          <a:prstGeom prst="line">
            <a:avLst/>
          </a:prstGeom>
          <a:noFill/>
          <a:ln w="6350">
            <a:solidFill>
              <a:srgbClr val="C084FC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06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사용자 → Route 53 (DNS)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06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주소를 입력하면 Route 53이 IP 주소로 변환하여 로드밸런서로 연결. AWS에서 도메인도 구매, 관리 가능.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66395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06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→ ALB (로드밸런서)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06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웹서버에 트래픽을 균등하게 분산. 건강한 서버에만 요청 전달(헬스체크). HTTPS 인증서도 ALB에서 처리.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0085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406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→ EC2 앱서버 → 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프라이빗 서브넷의 앱서버에서 비즈니스 로직 처리 후 RDS에 데이터 저장. ElastiCache로 DB 부하 감소.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50976"/>
            <a:ext cx="4160520" cy="4032504"/>
          </a:xfrm>
          <a:prstGeom prst="rect">
            <a:avLst/>
          </a:prstGeom>
          <a:solidFill>
            <a:srgbClr val="1E293B">
              <a:alpha val="40000"/>
            </a:srgbClr>
          </a:solidFill>
          <a:ln w="9525">
            <a:solidFill>
              <a:srgbClr val="7E22CE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078992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부가 구성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846320" y="1399032"/>
            <a:ext cx="3794760" cy="0"/>
          </a:xfrm>
          <a:prstGeom prst="line">
            <a:avLst/>
          </a:prstGeom>
          <a:noFill/>
          <a:ln w="6350">
            <a:solidFill>
              <a:srgbClr val="7E22CE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1527048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51790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084064" y="1508760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+ CloudFront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84064" y="1728216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이미지, 동영상, CSS, JS 등 정적 파일은 S3에 저장하고 CloudFront CDN으로 전 세계에 빠르게 배포. 서버 부하 감소.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663952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5480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84064" y="2645664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CloudWatch 모니터링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2865120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CPU, 메모리, 응답시간 실시간 모니터링. 이상 감지 시 자동 알림(SNS). Auto Scaling 트리거로도 활용.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800856"/>
            <a:ext cx="182880" cy="18288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79171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084064" y="3782568"/>
            <a:ext cx="3685032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 (웹 방화벽)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84064" y="4002024"/>
            <a:ext cx="3685032" cy="8442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인젝션, XSS 등 웹 공격 자동 차단. ALB 앞에 붙여 모든 요청 필터링. DDoS 방어는 AWS Shield가 담당.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 이해하는 웹 서비스 구성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쇼핑몰을 예시로 각 AWS 서비스의 역할을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527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7930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 53 = 간판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"쿠팡.com" 입력하면 실제 서버 IP로 안내. 간판을 보고 가게 찾아가듯. 도메인 구매도 AWS에서 가능.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2404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5058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53005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553005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ALB = 줄 서기 안내원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569464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손님(요청)을 여러 계산대(서버)로 균등 배분. 바쁜 서버엔 덜 보냄. 한 서버 죽으면 자동 우회.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54296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399532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12186" y="2183770"/>
            <a:ext cx="286756" cy="2867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20133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720133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ElastiCache = 책상 위 메모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736592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정보를 DB 대신 메모리에서 즉시 꺼냄. 응답 속도 10~100배. DB 부하 대폭 감소.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21424" y="1906524"/>
            <a:ext cx="2002536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6666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79314" y="2183770"/>
            <a:ext cx="286756" cy="28675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87261" y="2674620"/>
            <a:ext cx="187086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887261" y="2848356"/>
            <a:ext cx="1870862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 = 보안 검색대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03720" y="3268980"/>
            <a:ext cx="1837944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악성 요청 자동 차단. SQL 인젝션, XSS 등 해킹 시도 걸러냄. 입장 전 검사하는 보안 검색대.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Well-Architected Framework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AWS가 정리한 좋은 클라우드 아키텍처 기준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IAM 최소 권한 원칙. 데이터 암호화. 네트워크 방어 다층화. 모든 API 호출을 CloudTrail로 감사.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신뢰성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AZ 배포. 자동 장애 복구 설계. 정기 백업. 단일 장애점(SPOF) 없애기. 장애를 가정하고 설계.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Well-Architected Framework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AWS가 정리한 좋은 클라우드 아키텍처 기준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효율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워크로드에 맞는 인스턴스 선택. ElastiCache 캐싱. CloudFront 글로벌 분산. 필요 없는 리소스 정리.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최적화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사용량 모니터링. 미사용 리소스 삭제. 예약 인스턴스, Savings Plan 활용. 비용 알람 설정.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비용 — 쓴 만큼만 낸다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구매하는 것이 아니라 빌리는 것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온디맨드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시간만큼 지불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단위 과금. 약정 없음. 언제든 시작, 종료. 테스트, 개발 환경에 적합. 가장 유연.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약정으로 최대 72% 할인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1년 또는 3년 약정. 24시간 안정적으로 운영되는 서비스에 적합. 비용 예측 가능.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84FC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비용 — 쓴 만큼만 낸다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서버를 구매하는 것이 아니라 빌리는 것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스팟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여유 자원 최대 90% 절감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남은 자원 활용. 중단 가능성 있어 배치 작업에 적합. 중단 허용 아키텍처 필요.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C084FC">
              <a:alpha val="25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프리티어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무료로 시작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계정 12개월 무료. EC2 t2.micro 750시간, S3 5GB, RDS 750시간, Lambda 100만 호출/월 포함.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관련 직업과 자격증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클라우드는 IT 전 분야의 기본 소양이 되었습니다 — 1/2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아키텍트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인프라 전체 설계 담당. AWS Solutions Architect 자격증이 대표적. IT 직군 중 가장 높은 연봉 수준.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DevOps 엔지니어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개발과 운영을 자동화. CI/CD 파이프라인 구축, 인프라 코드화(IaC). AWS DevOps Professional 자격증.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관련 직업과 자격증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68680" y="585216"/>
            <a:ext cx="7406640" cy="438912"/>
          </a:xfrm>
          <a:prstGeom prst="rect">
            <a:avLst/>
          </a:prstGeom>
          <a:solidFill>
            <a:srgbClr val="000000">
              <a:alpha val="32000"/>
            </a:srgbClr>
          </a:solidFill>
          <a:ln w="6350">
            <a:solidFill>
              <a:srgbClr val="4ADE80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94360"/>
            <a:ext cx="74066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클라우드는 IT 전 분야의 기본 소양이 되었습니다 — 2/2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61494" y="2183770"/>
            <a:ext cx="286756" cy="2867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5877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5877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보안 전문가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보안 설계, 운영. AWS Security Specialty 자격증. 사이버 위협 증가로 수요 빠르게 증가.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1906524"/>
            <a:ext cx="4169664" cy="2286000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5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83096" y="2071116"/>
            <a:ext cx="512064" cy="512064"/>
          </a:xfrm>
          <a:prstGeom prst="ellipse">
            <a:avLst/>
          </a:prstGeom>
          <a:solidFill>
            <a:srgbClr val="4ADE80">
              <a:alpha val="25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95750" y="2183770"/>
            <a:ext cx="286756" cy="2867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20133" y="2674620"/>
            <a:ext cx="403799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720133" y="2848356"/>
            <a:ext cx="4037990" cy="4023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자격증 로드맵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736592" y="3268980"/>
            <a:ext cx="4005072" cy="85770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(입문, 90분) → Solutions Architect Associate → Professional. 단계적으로 취득.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바로 시작하기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234440" y="594360"/>
            <a:ext cx="6675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무료로 시작하고, 직접 만들어보면서 배우는 것이 가장 빠릅니다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FB923C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1060704"/>
            <a:ext cx="530352" cy="530352"/>
          </a:xfrm>
          <a:prstGeom prst="ellipse">
            <a:avLst/>
          </a:prstGeom>
          <a:solidFill>
            <a:srgbClr val="FB923C">
              <a:alpha val="28000"/>
            </a:srgbClr>
          </a:solidFill>
          <a:ln w="9525">
            <a:solidFill>
              <a:srgbClr val="FB923C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2202" y="1166774"/>
            <a:ext cx="318211" cy="3182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85877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프리 티어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2336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계정 12개월 무료 서비스 제공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" y="2441448"/>
            <a:ext cx="1673352" cy="274320"/>
          </a:xfrm>
          <a:prstGeom prst="rect">
            <a:avLst/>
          </a:prstGeom>
          <a:solidFill>
            <a:srgbClr val="FB923C">
              <a:alpha val="22000"/>
            </a:srgbClr>
          </a:solidFill>
          <a:ln w="6350">
            <a:solidFill>
              <a:srgbClr val="FB923C">
                <a:alpha val="4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신용카드 등록 후 즉시 시작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4632" y="2852928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t2.micro 750시간/월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84632" y="3054096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5GB 스토리지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84632" y="3255264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750시간/월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84632" y="3456432"/>
            <a:ext cx="91440" cy="91440"/>
          </a:xfrm>
          <a:prstGeom prst="ellipse">
            <a:avLst/>
          </a:prstGeom>
          <a:solidFill>
            <a:srgbClr val="FB923C">
              <a:alpha val="72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621792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Lambda 100만 호출/월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84632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FB923C">
                <a:alpha val="52000"/>
              </a:srgbClr>
            </a:solidFill>
            <a:prstDash val="solid"/>
          </a:ln>
        </p:spPr>
      </p:sp>
      <p:sp>
        <p:nvSpPr>
          <p:cNvPr id="22" name="Text 19">
            <a:hlinkClick r:id="rId3" tooltip=""/>
          </p:cNvPr>
          <p:cNvSpPr/>
          <p:nvPr/>
        </p:nvSpPr>
        <p:spPr>
          <a:xfrm>
            <a:off x="539496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aws.amazon.com/free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2487168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60A5FA">
                <a:alpha val="6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223260" y="1060704"/>
            <a:ext cx="530352" cy="530352"/>
          </a:xfrm>
          <a:prstGeom prst="ellipse">
            <a:avLst/>
          </a:prstGeom>
          <a:solidFill>
            <a:srgbClr val="60A5FA">
              <a:alpha val="28000"/>
            </a:srgbClr>
          </a:solidFill>
          <a:ln w="9525">
            <a:solidFill>
              <a:srgbClr val="60A5FA">
                <a:alpha val="50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9330" y="1166774"/>
            <a:ext cx="318211" cy="31821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553005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공식 교육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2569464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온라인 강의와 핸즈온 랩 제공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2651760" y="2441448"/>
            <a:ext cx="1673352" cy="274320"/>
          </a:xfrm>
          <a:prstGeom prst="rect">
            <a:avLst/>
          </a:prstGeom>
          <a:solidFill>
            <a:srgbClr val="60A5FA">
              <a:alpha val="22000"/>
            </a:srgbClr>
          </a:solidFill>
          <a:ln w="6350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24912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 콘텐츠 제공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2651760" y="2852928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1" name="Text 27"/>
          <p:cNvSpPr/>
          <p:nvPr/>
        </p:nvSpPr>
        <p:spPr>
          <a:xfrm>
            <a:off x="2788920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Skill Builder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2651760" y="3054096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2788920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Training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2651760" y="3255264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5" name="Text 31"/>
          <p:cNvSpPr/>
          <p:nvPr/>
        </p:nvSpPr>
        <p:spPr>
          <a:xfrm>
            <a:off x="2788920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Workshops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2651760" y="3456432"/>
            <a:ext cx="91440" cy="91440"/>
          </a:xfrm>
          <a:prstGeom prst="ellipse">
            <a:avLst/>
          </a:prstGeom>
          <a:solidFill>
            <a:srgbClr val="60A5FA">
              <a:alpha val="72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2788920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Well-Architected Labs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2651760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60A5FA">
                <a:alpha val="52000"/>
              </a:srgbClr>
            </a:solidFill>
            <a:prstDash val="solid"/>
          </a:ln>
        </p:spPr>
      </p:sp>
      <p:sp>
        <p:nvSpPr>
          <p:cNvPr id="39" name="Text 35">
            <a:hlinkClick r:id="rId6" tooltip=""/>
          </p:cNvPr>
          <p:cNvSpPr/>
          <p:nvPr/>
        </p:nvSpPr>
        <p:spPr>
          <a:xfrm>
            <a:off x="2706624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60A5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skillbuilder.aws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4654296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4ADE80">
                <a:alpha val="60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5390388" y="1060704"/>
            <a:ext cx="530352" cy="530352"/>
          </a:xfrm>
          <a:prstGeom prst="ellipse">
            <a:avLst/>
          </a:prstGeom>
          <a:solidFill>
            <a:srgbClr val="4ADE80">
              <a:alpha val="28000"/>
            </a:srgbClr>
          </a:solidFill>
          <a:ln w="9525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96458" y="1166774"/>
            <a:ext cx="318211" cy="318211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4720133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핸즈온 실습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4736592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따라하기 가이드로 직접 구성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818888" y="2441448"/>
            <a:ext cx="1673352" cy="274320"/>
          </a:xfrm>
          <a:prstGeom prst="rect">
            <a:avLst/>
          </a:prstGeom>
          <a:solidFill>
            <a:srgbClr val="4ADE80">
              <a:alpha val="22000"/>
            </a:srgbClr>
          </a:solidFill>
          <a:ln w="6350">
            <a:solidFill>
              <a:srgbClr val="4ADE80">
                <a:alpha val="48000"/>
              </a:srgbClr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92040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튜토리얼 제공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4818888" y="2852928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48" name="Text 43"/>
          <p:cNvSpPr/>
          <p:nvPr/>
        </p:nvSpPr>
        <p:spPr>
          <a:xfrm>
            <a:off x="4956048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VPC 직접 생성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4818888" y="3054096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0" name="Text 45"/>
          <p:cNvSpPr/>
          <p:nvPr/>
        </p:nvSpPr>
        <p:spPr>
          <a:xfrm>
            <a:off x="4956048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EC2 웹서버 구성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4818888" y="3255264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2" name="Text 47"/>
          <p:cNvSpPr/>
          <p:nvPr/>
        </p:nvSpPr>
        <p:spPr>
          <a:xfrm>
            <a:off x="4956048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정적 웹사이트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4818888" y="3456432"/>
            <a:ext cx="91440" cy="91440"/>
          </a:xfrm>
          <a:prstGeom prst="ellipse">
            <a:avLst/>
          </a:prstGeom>
          <a:solidFill>
            <a:srgbClr val="4ADE80">
              <a:alpha val="72000"/>
            </a:srgbClr>
          </a:solidFill>
          <a:ln/>
        </p:spPr>
      </p:sp>
      <p:sp>
        <p:nvSpPr>
          <p:cNvPr id="54" name="Text 49"/>
          <p:cNvSpPr/>
          <p:nvPr/>
        </p:nvSpPr>
        <p:spPr>
          <a:xfrm>
            <a:off x="4956048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RDS 연동 실습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818888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4ADE80">
                <a:alpha val="52000"/>
              </a:srgbClr>
            </a:solidFill>
            <a:prstDash val="solid"/>
          </a:ln>
        </p:spPr>
      </p:sp>
      <p:sp>
        <p:nvSpPr>
          <p:cNvPr id="56" name="Text 51">
            <a:hlinkClick r:id="rId9" tooltip=""/>
          </p:cNvPr>
          <p:cNvSpPr/>
          <p:nvPr/>
        </p:nvSpPr>
        <p:spPr>
          <a:xfrm>
            <a:off x="4873752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aws.amazon.com/getting-started</a:t>
            </a:r>
            <a:endParaRPr lang="en-US" sz="800" dirty="0"/>
          </a:p>
        </p:txBody>
      </p:sp>
      <p:sp>
        <p:nvSpPr>
          <p:cNvPr id="57" name="Shape 52"/>
          <p:cNvSpPr/>
          <p:nvPr/>
        </p:nvSpPr>
        <p:spPr>
          <a:xfrm>
            <a:off x="6821424" y="896112"/>
            <a:ext cx="2002536" cy="4087368"/>
          </a:xfrm>
          <a:prstGeom prst="rect">
            <a:avLst/>
          </a:prstGeom>
          <a:solidFill>
            <a:srgbClr val="1E293B">
              <a:alpha val="45000"/>
            </a:srgbClr>
          </a:solidFill>
          <a:ln w="9525">
            <a:solidFill>
              <a:srgbClr val="C084FC">
                <a:alpha val="60000"/>
              </a:srgbClr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7557516" y="1060704"/>
            <a:ext cx="530352" cy="530352"/>
          </a:xfrm>
          <a:prstGeom prst="ellipse">
            <a:avLst/>
          </a:prstGeom>
          <a:solidFill>
            <a:srgbClr val="C084FC">
              <a:alpha val="28000"/>
            </a:srgbClr>
          </a:solidFill>
          <a:ln w="9525">
            <a:solidFill>
              <a:srgbClr val="C084FC">
                <a:alpha val="50000"/>
              </a:srgbClr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63586" y="1166774"/>
            <a:ext cx="318211" cy="318211"/>
          </a:xfrm>
          <a:prstGeom prst="rect">
            <a:avLst/>
          </a:prstGeom>
        </p:spPr>
      </p:pic>
      <p:sp>
        <p:nvSpPr>
          <p:cNvPr id="60" name="Text 54"/>
          <p:cNvSpPr/>
          <p:nvPr/>
        </p:nvSpPr>
        <p:spPr>
          <a:xfrm>
            <a:off x="6887261" y="1682496"/>
            <a:ext cx="18708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자격증</a:t>
            </a:r>
            <a:endParaRPr lang="en-US" sz="1400" dirty="0"/>
          </a:p>
        </p:txBody>
      </p:sp>
      <p:sp>
        <p:nvSpPr>
          <p:cNvPr id="61" name="Text 55"/>
          <p:cNvSpPr/>
          <p:nvPr/>
        </p:nvSpPr>
        <p:spPr>
          <a:xfrm>
            <a:off x="6903720" y="1984248"/>
            <a:ext cx="18379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인증으로 역량 증명</a:t>
            </a:r>
            <a:endParaRPr lang="en-US" sz="1100" dirty="0"/>
          </a:p>
        </p:txBody>
      </p:sp>
      <p:sp>
        <p:nvSpPr>
          <p:cNvPr id="62" name="Shape 56"/>
          <p:cNvSpPr/>
          <p:nvPr/>
        </p:nvSpPr>
        <p:spPr>
          <a:xfrm>
            <a:off x="6986016" y="2441448"/>
            <a:ext cx="1673352" cy="274320"/>
          </a:xfrm>
          <a:prstGeom prst="rect">
            <a:avLst/>
          </a:prstGeom>
          <a:solidFill>
            <a:srgbClr val="C084FC">
              <a:alpha val="22000"/>
            </a:srgbClr>
          </a:solidFill>
          <a:ln w="6350">
            <a:solidFill>
              <a:srgbClr val="C084FC">
                <a:alpha val="48000"/>
              </a:srgbClr>
            </a:solidFill>
            <a:prstDash val="solid"/>
          </a:ln>
        </p:spPr>
      </p:sp>
      <p:sp>
        <p:nvSpPr>
          <p:cNvPr id="63" name="Text 57"/>
          <p:cNvSpPr/>
          <p:nvPr/>
        </p:nvSpPr>
        <p:spPr>
          <a:xfrm>
            <a:off x="7059168" y="2478024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부터 시작</a:t>
            </a:r>
            <a:endParaRPr lang="en-US" sz="900" dirty="0"/>
          </a:p>
        </p:txBody>
      </p:sp>
      <p:sp>
        <p:nvSpPr>
          <p:cNvPr id="64" name="Shape 58"/>
          <p:cNvSpPr/>
          <p:nvPr/>
        </p:nvSpPr>
        <p:spPr>
          <a:xfrm>
            <a:off x="6986016" y="2852928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5" name="Text 59"/>
          <p:cNvSpPr/>
          <p:nvPr/>
        </p:nvSpPr>
        <p:spPr>
          <a:xfrm>
            <a:off x="7123176" y="2816352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Practitioner 입문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6986016" y="3054096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7" name="Text 61"/>
          <p:cNvSpPr/>
          <p:nvPr/>
        </p:nvSpPr>
        <p:spPr>
          <a:xfrm>
            <a:off x="7123176" y="3017520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Solutions Architect 실무</a:t>
            </a:r>
            <a:endParaRPr lang="en-US" sz="900" dirty="0"/>
          </a:p>
        </p:txBody>
      </p:sp>
      <p:sp>
        <p:nvSpPr>
          <p:cNvPr id="68" name="Shape 62"/>
          <p:cNvSpPr/>
          <p:nvPr/>
        </p:nvSpPr>
        <p:spPr>
          <a:xfrm>
            <a:off x="6986016" y="3255264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69" name="Text 63"/>
          <p:cNvSpPr/>
          <p:nvPr/>
        </p:nvSpPr>
        <p:spPr>
          <a:xfrm>
            <a:off x="7123176" y="3218688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시험 가이드 무료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>
            <a:off x="6986016" y="3456432"/>
            <a:ext cx="91440" cy="91440"/>
          </a:xfrm>
          <a:prstGeom prst="ellipse">
            <a:avLst/>
          </a:prstGeom>
          <a:solidFill>
            <a:srgbClr val="C084FC">
              <a:alpha val="72000"/>
            </a:srgbClr>
          </a:solidFill>
          <a:ln/>
        </p:spPr>
      </p:sp>
      <p:sp>
        <p:nvSpPr>
          <p:cNvPr id="71" name="Text 65"/>
          <p:cNvSpPr/>
          <p:nvPr/>
        </p:nvSpPr>
        <p:spPr>
          <a:xfrm>
            <a:off x="7123176" y="3419856"/>
            <a:ext cx="1655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문제 제공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6986016" y="4581144"/>
            <a:ext cx="1673352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 w="6350">
            <a:solidFill>
              <a:srgbClr val="C084FC">
                <a:alpha val="52000"/>
              </a:srgbClr>
            </a:solidFill>
            <a:prstDash val="solid"/>
          </a:ln>
        </p:spPr>
      </p:sp>
      <p:sp>
        <p:nvSpPr>
          <p:cNvPr id="73" name="Text 67">
            <a:hlinkClick r:id="rId12" tooltip=""/>
          </p:cNvPr>
          <p:cNvSpPr/>
          <p:nvPr/>
        </p:nvSpPr>
        <p:spPr>
          <a:xfrm>
            <a:off x="7040880" y="4608576"/>
            <a:ext cx="15636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u="sng" dirty="0">
                <a:solidFill>
                  <a:srgbClr val="C08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aws.amazon.com/certification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2026-03-28T07:27:57Z</dcterms:created>
  <dcterms:modified xsi:type="dcterms:W3CDTF">2026-03-28T07:27:57Z</dcterms:modified>
</cp:coreProperties>
</file>